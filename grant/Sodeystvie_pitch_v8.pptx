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Подопечные</c:v>
                </c:pt>
              </c:strCache>
            </c:strRef>
          </c:tx>
          <c:spPr>
            <a:solidFill>
              <a:srgbClr val="DDEE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E2F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DEE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B6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2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2019 (пилот)</c:v>
                  </c:pt>
                  <c:pt idx="1">
                    <c:v>2020</c:v>
                  </c:pt>
                  <c:pt idx="2">
                    <c:v>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198</c:v>
                </c:pt>
                <c:pt idx="1">
                  <c:v>544</c:v>
                </c:pt>
                <c:pt idx="2">
                  <c:v>955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E2F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polina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pic>
        <p:nvPicPr>
          <p:cNvPr id="3" name="Image 1" descr="img/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0"/>
            <a:ext cx="23774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48640" y="548640"/>
            <a:ext cx="5257800" cy="365760"/>
          </a:xfrm>
          <a:prstGeom prst="roundRect">
            <a:avLst>
              <a:gd name="adj" fmla="val 50000"/>
            </a:avLst>
          </a:prstGeom>
          <a:solidFill>
            <a:srgbClr val="064C49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548640" y="5486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234440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«Содействие»</a:t>
            </a:r>
            <a:endParaRPr lang="en-US" sz="5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971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Экосистема достойного ухода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52044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Возвращаем человеку самостоятельность, а семье — возможность быть семьёй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 в сфере ухода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377440" y="4526280"/>
            <a:ext cx="0" cy="86868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6032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3*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256032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региона, 23 района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4526280"/>
            <a:ext cx="0" cy="86868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</a:t>
            </a:r>
            <a:endParaRPr lang="en-US" sz="36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подопечных ежедневно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1081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 · Республика Татарстан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41908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222199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2221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О бизнесе участника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лет: от личной боли к системе ухода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109167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80160" y="1938528"/>
            <a:ext cx="9628632" cy="0"/>
          </a:xfrm>
          <a:prstGeom prst="line">
            <a:avLst/>
          </a:prstGeom>
          <a:noFill/>
          <a:ln w="50800">
            <a:solidFill>
              <a:srgbClr val="DDEE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0432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центр,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45951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24159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924159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Татарстан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21470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99678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299678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«Милосердие»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296989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75197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75197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СДУ: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 человек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72507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50715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050715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544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8026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26234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2021–22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26234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СДУ во Владимирской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Пензенской обл.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423545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01753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01753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«Ярдэм»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707624" y="1737360"/>
            <a:ext cx="402336" cy="402336"/>
          </a:xfrm>
          <a:prstGeom prst="ellipse">
            <a:avLst/>
          </a:prstGeom>
          <a:solidFill>
            <a:srgbClr val="FBE3CF"/>
          </a:solidFill>
          <a:ln w="12700">
            <a:solidFill>
              <a:srgbClr val="FBE3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99064" y="1828800"/>
            <a:ext cx="219456" cy="219456"/>
          </a:xfrm>
          <a:prstGeom prst="ellipse">
            <a:avLst/>
          </a:prstGeom>
          <a:solidFill>
            <a:srgbClr val="D982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7272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0177272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3383280"/>
            <a:ext cx="3566160" cy="2880360"/>
          </a:xfrm>
          <a:prstGeom prst="roundRect">
            <a:avLst>
              <a:gd name="adj" fmla="val 4444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3611880"/>
            <a:ext cx="384048" cy="3840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841248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 не привилегия</a:t>
            </a:r>
            <a:endParaRPr lang="en-US" sz="2100" dirty="0"/>
          </a:p>
        </p:txBody>
      </p:sp>
      <p:sp>
        <p:nvSpPr>
          <p:cNvPr id="37" name="Text 34"/>
          <p:cNvSpPr txBox="1"/>
          <p:nvPr/>
        </p:nvSpPr>
        <p:spPr>
          <a:xfrm>
            <a:off x="841248" y="4937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пожилой человек получает помощь и остаётся самостоятельным — независимо от того, есть ли рядом родственники.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41248" y="58338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Достоинство · Автономность · Доверие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297680" y="3383280"/>
            <a:ext cx="4526280" cy="28803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572000" y="3547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Кратко о бизнесе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0" y="3931920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362" y="4041282"/>
            <a:ext cx="201900" cy="201900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5138928" y="391363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Отрасль.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Социальные услуги: уход за пожилыми и тяжелобольными</a:t>
            </a: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572000" y="4498848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362" y="4608210"/>
            <a:ext cx="201900" cy="201900"/>
          </a:xfrm>
          <a:prstGeom prst="rect">
            <a:avLst/>
          </a:prstGeom>
        </p:spPr>
      </p:pic>
      <p:sp>
        <p:nvSpPr>
          <p:cNvPr id="46" name="Text 41"/>
          <p:cNvSpPr txBox="1"/>
          <p:nvPr/>
        </p:nvSpPr>
        <p:spPr>
          <a:xfrm>
            <a:off x="5138928" y="448056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Люди, потерявшие самостоятельность, их семьи, государство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4572000" y="5065776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362" y="5175138"/>
            <a:ext cx="201900" cy="201900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5138928" y="504748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Уход на дому, пансионаты, обучение, прокат ТСР, эрготерапия</a:t>
            </a:r>
            <a:endParaRPr lang="en-US" sz="1150" dirty="0"/>
          </a:p>
        </p:txBody>
      </p:sp>
      <p:sp>
        <p:nvSpPr>
          <p:cNvPr id="50" name="Shape 44"/>
          <p:cNvSpPr/>
          <p:nvPr/>
        </p:nvSpPr>
        <p:spPr>
          <a:xfrm>
            <a:off x="4572000" y="5632704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362" y="5742066"/>
            <a:ext cx="201900" cy="201900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5138928" y="561441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Проверенная помощь за 1–2 дня в «одном окне»</a:t>
            </a:r>
            <a:endParaRPr lang="en-US" sz="1150" dirty="0"/>
          </a:p>
        </p:txBody>
      </p:sp>
      <p:pic>
        <p:nvPicPr>
          <p:cNvPr id="53" name="Image 5" descr="img/elder_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52" y="3383280"/>
            <a:ext cx="26517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3392424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Уникальность и актуальность бизнеса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 за 1–2 дня вместо 3 недель ожидания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572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выбирают нас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212080" y="1920240"/>
            <a:ext cx="2240280" cy="2926080"/>
          </a:xfrm>
          <a:prstGeom prst="roundRect">
            <a:avLst>
              <a:gd name="adj" fmla="val 5714"/>
            </a:avLst>
          </a:prstGeom>
          <a:solidFill>
            <a:srgbClr val="EAF7F5"/>
          </a:solidFill>
          <a:ln w="19050">
            <a:solidFill>
              <a:srgbClr val="0E6B6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993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93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19933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Частная сиделка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19933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Содействие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432304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4871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начала помощи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2532888"/>
            <a:ext cx="164592" cy="16459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377440" y="2743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3 недель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124" y="2532888"/>
            <a:ext cx="164592" cy="16459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79476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ищут сами</a:t>
            </a:r>
            <a:endParaRPr lang="en-US" sz="11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780" y="2514600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7432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дня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3200400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48640" y="325526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Квалификация персонала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3300984"/>
            <a:ext cx="164592" cy="16459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377440" y="351129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</a:t>
            </a:r>
            <a:endParaRPr lang="en-US" sz="110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1124" y="3300984"/>
            <a:ext cx="164592" cy="16459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3511296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сложно проверить</a:t>
            </a:r>
            <a:endParaRPr lang="en-US" sz="11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0780" y="3282696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349240" y="3511296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 обученных*</a:t>
            </a:r>
            <a:endParaRPr lang="en-US" sz="1250" dirty="0"/>
          </a:p>
        </p:txBody>
      </p:sp>
      <p:sp>
        <p:nvSpPr>
          <p:cNvPr id="30" name="Shape 22"/>
          <p:cNvSpPr/>
          <p:nvPr/>
        </p:nvSpPr>
        <p:spPr>
          <a:xfrm>
            <a:off x="548640" y="3968496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548640" y="402336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маршрут ухода</a:t>
            </a:r>
            <a:endParaRPr lang="en-US" sz="13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80944" y="4069080"/>
            <a:ext cx="164592" cy="16459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2377440" y="42793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услуги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1124" y="4069080"/>
            <a:ext cx="164592" cy="16459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3794760" y="427939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сиделка</a:t>
            </a:r>
            <a:endParaRPr lang="en-US" sz="110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0780" y="4050792"/>
            <a:ext cx="182880" cy="18288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349240" y="4279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дом, пансионат, ТСР, обучение</a:t>
            </a:r>
            <a:endParaRPr lang="en-US" sz="1250" dirty="0"/>
          </a:p>
        </p:txBody>
      </p:sp>
      <p:sp>
        <p:nvSpPr>
          <p:cNvPr id="38" name="Shape 27"/>
          <p:cNvSpPr/>
          <p:nvPr/>
        </p:nvSpPr>
        <p:spPr>
          <a:xfrm>
            <a:off x="7635240" y="1572768"/>
            <a:ext cx="4005072" cy="3273552"/>
          </a:xfrm>
          <a:prstGeom prst="roundRect">
            <a:avLst>
              <a:gd name="adj" fmla="val 3911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9" name="Text 28"/>
          <p:cNvSpPr txBox="1"/>
          <p:nvPr/>
        </p:nvSpPr>
        <p:spPr>
          <a:xfrm>
            <a:off x="7909560" y="1737360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 нужно сейчас</a:t>
            </a:r>
            <a:endParaRPr lang="en-US" sz="1400" dirty="0"/>
          </a:p>
        </p:txBody>
      </p:sp>
      <p:sp>
        <p:nvSpPr>
          <p:cNvPr id="40" name="Shape 29"/>
          <p:cNvSpPr/>
          <p:nvPr/>
        </p:nvSpPr>
        <p:spPr>
          <a:xfrm>
            <a:off x="7909560" y="219456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0319" y="2325319"/>
            <a:ext cx="241402" cy="2414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8549640" y="217627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Население стареет — растёт число людей, которым нужен постоянный уход</a:t>
            </a:r>
            <a:endParaRPr lang="en-US" sz="1250" dirty="0"/>
          </a:p>
        </p:txBody>
      </p:sp>
      <p:sp>
        <p:nvSpPr>
          <p:cNvPr id="43" name="Shape 31"/>
          <p:cNvSpPr/>
          <p:nvPr/>
        </p:nvSpPr>
        <p:spPr>
          <a:xfrm>
            <a:off x="7909560" y="306324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0319" y="3193999"/>
            <a:ext cx="241402" cy="241402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8549640" y="304495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 остаётся один на один с уходом и выпадает из работы</a:t>
            </a:r>
            <a:endParaRPr lang="en-US" sz="1250" dirty="0"/>
          </a:p>
        </p:txBody>
      </p:sp>
      <p:sp>
        <p:nvSpPr>
          <p:cNvPr id="46" name="Shape 33"/>
          <p:cNvSpPr/>
          <p:nvPr/>
        </p:nvSpPr>
        <p:spPr>
          <a:xfrm>
            <a:off x="7909560" y="393192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40319" y="4062679"/>
            <a:ext cx="241402" cy="241402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8549640" y="391363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Госучреждения перегружены, рынок частных сиделок непрозрачен</a:t>
            </a:r>
            <a:endParaRPr lang="en-US" sz="1250" dirty="0"/>
          </a:p>
        </p:txBody>
      </p:sp>
      <p:sp>
        <p:nvSpPr>
          <p:cNvPr id="49" name="Shape 35"/>
          <p:cNvSpPr/>
          <p:nvPr/>
        </p:nvSpPr>
        <p:spPr>
          <a:xfrm>
            <a:off x="548640" y="5074920"/>
            <a:ext cx="11091672" cy="1207008"/>
          </a:xfrm>
          <a:prstGeom prst="roundRect">
            <a:avLst>
              <a:gd name="adj" fmla="val 10606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pic>
        <p:nvPicPr>
          <p:cNvPr id="50" name="Image 12" descr="img/tablet_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944" y="5175504"/>
            <a:ext cx="1005840" cy="1005840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1920240" y="52303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Инновация: Sidelka Online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1920240" y="5577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Цифровая платформа: быстрый подбор проверенной сиделки, GPS-контроль визитов, ИИ-подсказки по уходу, обучение и рейтинг</a:t>
            </a:r>
            <a:endParaRPr lang="en-US" sz="1200" dirty="0"/>
          </a:p>
        </p:txBody>
      </p:sp>
      <p:sp>
        <p:nvSpPr>
          <p:cNvPr id="53" name="Text 38"/>
          <p:cNvSpPr txBox="1"/>
          <p:nvPr/>
        </p:nvSpPr>
        <p:spPr>
          <a:xfrm>
            <a:off x="7452360" y="51755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594</a:t>
            </a:r>
            <a:endParaRPr lang="en-US" sz="3600" dirty="0"/>
          </a:p>
        </p:txBody>
      </p:sp>
      <p:sp>
        <p:nvSpPr>
          <p:cNvPr id="54" name="Text 39"/>
          <p:cNvSpPr txBox="1"/>
          <p:nvPr/>
        </p:nvSpPr>
        <p:spPr>
          <a:xfrm>
            <a:off x="7452360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сиделки в пилоте</a:t>
            </a:r>
            <a:endParaRPr lang="en-US" sz="1150" dirty="0"/>
          </a:p>
        </p:txBody>
      </p:sp>
      <p:sp>
        <p:nvSpPr>
          <p:cNvPr id="55" name="Shape 40"/>
          <p:cNvSpPr/>
          <p:nvPr/>
        </p:nvSpPr>
        <p:spPr>
          <a:xfrm>
            <a:off x="9326880" y="5303520"/>
            <a:ext cx="0" cy="77724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9509760" y="51755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487</a:t>
            </a:r>
            <a:endParaRPr lang="en-US" sz="3600" dirty="0"/>
          </a:p>
        </p:txBody>
      </p:sp>
      <p:sp>
        <p:nvSpPr>
          <p:cNvPr id="57" name="Text 42"/>
          <p:cNvSpPr txBox="1"/>
          <p:nvPr/>
        </p:nvSpPr>
        <p:spPr>
          <a:xfrm>
            <a:off x="9509760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в пилоте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3465576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3465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Основные показатели за 2025–2026 гг.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 подопечных ежедневно и помощь за 1–2 дня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931920" cy="3154680"/>
          </a:xfrm>
          <a:prstGeom prst="roundRect">
            <a:avLst>
              <a:gd name="adj" fmla="val 405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Подопечные на обслуживании*, чел.</a:t>
            </a:r>
            <a:endParaRPr lang="en-US" sz="1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85800" y="2057400"/>
          <a:ext cx="36576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4663440" y="1572768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080760" y="1755648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612" y="1855500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864608" y="1956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902*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486460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дому ежедневно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766560" y="1572768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83880" y="1755648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732" y="1855500"/>
            <a:ext cx="184343" cy="18434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67728" y="1956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53*</a:t>
            </a:r>
            <a:endParaRPr lang="en-US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696772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стационарном уходе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663440" y="3200400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080760" y="3383280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612" y="3483132"/>
            <a:ext cx="184343" cy="18434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864608" y="35844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млн+*</a:t>
            </a:r>
            <a:endParaRPr lang="en-US" sz="3000" dirty="0"/>
          </a:p>
        </p:txBody>
      </p:sp>
      <p:sp>
        <p:nvSpPr>
          <p:cNvPr id="25" name="Text 19"/>
          <p:cNvSpPr txBox="1"/>
          <p:nvPr/>
        </p:nvSpPr>
        <p:spPr>
          <a:xfrm>
            <a:off x="4864608" y="41788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социальных услуг в год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766560" y="3200400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183880" y="3383280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732" y="3483132"/>
            <a:ext cx="184343" cy="18434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967728" y="35844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1 500+*</a:t>
            </a:r>
            <a:endParaRPr lang="en-US" sz="3000" dirty="0"/>
          </a:p>
        </p:txBody>
      </p:sp>
      <p:sp>
        <p:nvSpPr>
          <p:cNvPr id="30" name="Text 23"/>
          <p:cNvSpPr txBox="1"/>
          <p:nvPr/>
        </p:nvSpPr>
        <p:spPr>
          <a:xfrm>
            <a:off x="6967728" y="41788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помощников обучено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961120" y="1572768"/>
            <a:ext cx="2679192" cy="3154680"/>
          </a:xfrm>
          <a:prstGeom prst="roundRect">
            <a:avLst>
              <a:gd name="adj" fmla="val 4778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189720" y="173736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Качественные результаты</a:t>
            </a:r>
            <a:endParaRPr lang="en-US" sz="12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2148840"/>
            <a:ext cx="201168" cy="20116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509760" y="21214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нед. → 1–2 дня</a:t>
            </a:r>
            <a:endParaRPr lang="en-US" sz="1250" dirty="0"/>
          </a:p>
        </p:txBody>
      </p:sp>
      <p:sp>
        <p:nvSpPr>
          <p:cNvPr id="35" name="Text 27"/>
          <p:cNvSpPr txBox="1"/>
          <p:nvPr/>
        </p:nvSpPr>
        <p:spPr>
          <a:xfrm>
            <a:off x="9509760" y="238658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организации помощи</a:t>
            </a:r>
            <a:endParaRPr lang="en-US" sz="105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2788920"/>
            <a:ext cx="201168" cy="20116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509760" y="27614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проекта ФПГ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9509760" y="302666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 и «Перевозка»</a:t>
            </a:r>
            <a:endParaRPr lang="en-US" sz="10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429000"/>
            <a:ext cx="201168" cy="20116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9509760" y="3401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родственников*</a:t>
            </a:r>
            <a:endParaRPr lang="en-US" sz="1250" dirty="0"/>
          </a:p>
        </p:txBody>
      </p:sp>
      <p:sp>
        <p:nvSpPr>
          <p:cNvPr id="41" name="Text 31"/>
          <p:cNvSpPr txBox="1"/>
          <p:nvPr/>
        </p:nvSpPr>
        <p:spPr>
          <a:xfrm>
            <a:off x="9509760" y="366674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сохранили работу</a:t>
            </a:r>
            <a:endParaRPr lang="en-US" sz="10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069080"/>
            <a:ext cx="201168" cy="20116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509760" y="40416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платформы</a:t>
            </a:r>
            <a:endParaRPr lang="en-US" sz="1250" dirty="0"/>
          </a:p>
        </p:txBody>
      </p:sp>
      <p:sp>
        <p:nvSpPr>
          <p:cNvPr id="44" name="Text 33"/>
          <p:cNvSpPr txBox="1"/>
          <p:nvPr/>
        </p:nvSpPr>
        <p:spPr>
          <a:xfrm>
            <a:off x="9509760" y="430682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 в тесте</a:t>
            </a:r>
            <a:endParaRPr lang="en-US" sz="1050" dirty="0"/>
          </a:p>
        </p:txBody>
      </p:sp>
      <p:sp>
        <p:nvSpPr>
          <p:cNvPr id="45" name="Shape 34"/>
          <p:cNvSpPr/>
          <p:nvPr/>
        </p:nvSpPr>
        <p:spPr>
          <a:xfrm>
            <a:off x="548640" y="4919472"/>
            <a:ext cx="11091672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6" name="Text 35"/>
          <p:cNvSpPr txBox="1"/>
          <p:nvPr/>
        </p:nvSpPr>
        <p:spPr>
          <a:xfrm>
            <a:off x="804672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Финансовые показатели группы*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804672" y="5349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309,5 млн ₽</a:t>
            </a:r>
            <a:endParaRPr lang="en-US" sz="2200" dirty="0"/>
          </a:p>
        </p:txBody>
      </p:sp>
      <p:sp>
        <p:nvSpPr>
          <p:cNvPr id="48" name="Text 37"/>
          <p:cNvSpPr txBox="1"/>
          <p:nvPr/>
        </p:nvSpPr>
        <p:spPr>
          <a:xfrm>
            <a:off x="804672" y="58247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2025</a:t>
            </a:r>
            <a:endParaRPr lang="en-US" sz="1050" dirty="0"/>
          </a:p>
        </p:txBody>
      </p:sp>
      <p:sp>
        <p:nvSpPr>
          <p:cNvPr id="49" name="Shape 38"/>
          <p:cNvSpPr/>
          <p:nvPr/>
        </p:nvSpPr>
        <p:spPr>
          <a:xfrm>
            <a:off x="2679192" y="5413248"/>
            <a:ext cx="0" cy="685800"/>
          </a:xfrm>
          <a:prstGeom prst="line">
            <a:avLst/>
          </a:prstGeom>
          <a:noFill/>
          <a:ln w="12700">
            <a:solidFill>
              <a:srgbClr val="EEE6DA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2816352" y="5349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403,3 млн ₽</a:t>
            </a:r>
            <a:endParaRPr lang="en-US" sz="2200" dirty="0"/>
          </a:p>
        </p:txBody>
      </p:sp>
      <p:sp>
        <p:nvSpPr>
          <p:cNvPr id="51" name="Text 40"/>
          <p:cNvSpPr txBox="1"/>
          <p:nvPr/>
        </p:nvSpPr>
        <p:spPr>
          <a:xfrm>
            <a:off x="2816352" y="58247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прогноз 2026, +30% к 2025</a:t>
            </a:r>
            <a:endParaRPr lang="en-US" sz="1050" dirty="0"/>
          </a:p>
        </p:txBody>
      </p:sp>
      <p:sp>
        <p:nvSpPr>
          <p:cNvPr id="52" name="Shape 41"/>
          <p:cNvSpPr/>
          <p:nvPr/>
        </p:nvSpPr>
        <p:spPr>
          <a:xfrm>
            <a:off x="4690872" y="5413248"/>
            <a:ext cx="0" cy="685800"/>
          </a:xfrm>
          <a:prstGeom prst="line">
            <a:avLst/>
          </a:prstGeom>
          <a:noFill/>
          <a:ln w="12700">
            <a:solidFill>
              <a:srgbClr val="EEE6DA"/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4828032" y="5349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endParaRPr lang="en-US" sz="2200" dirty="0"/>
          </a:p>
        </p:txBody>
      </p:sp>
      <p:sp>
        <p:nvSpPr>
          <p:cNvPr id="54" name="Text 43"/>
          <p:cNvSpPr txBox="1"/>
          <p:nvPr/>
        </p:nvSpPr>
        <p:spPr>
          <a:xfrm>
            <a:off x="4828032" y="58247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выручки B2C за год</a:t>
            </a:r>
            <a:endParaRPr lang="en-US" sz="1050" dirty="0"/>
          </a:p>
        </p:txBody>
      </p:sp>
      <p:sp>
        <p:nvSpPr>
          <p:cNvPr id="55" name="Shape 44"/>
          <p:cNvSpPr/>
          <p:nvPr/>
        </p:nvSpPr>
        <p:spPr>
          <a:xfrm>
            <a:off x="6702552" y="5413248"/>
            <a:ext cx="0" cy="685800"/>
          </a:xfrm>
          <a:prstGeom prst="line">
            <a:avLst/>
          </a:prstGeom>
          <a:noFill/>
          <a:ln w="12700">
            <a:solidFill>
              <a:srgbClr val="EEE6DA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6839712" y="534009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78 000 ₽</a:t>
            </a:r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пансионат</a:t>
            </a:r>
            <a:endParaRPr lang="en-US" sz="1500" dirty="0"/>
          </a:p>
        </p:txBody>
      </p:sp>
      <p:sp>
        <p:nvSpPr>
          <p:cNvPr id="57" name="Text 46"/>
          <p:cNvSpPr txBox="1"/>
          <p:nvPr/>
        </p:nvSpPr>
        <p:spPr>
          <a:xfrm>
            <a:off x="6839712" y="556869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26 400 ₽</a:t>
            </a:r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сиделка</a:t>
            </a:r>
            <a:endParaRPr lang="en-US" sz="1500" dirty="0"/>
          </a:p>
        </p:txBody>
      </p:sp>
      <p:sp>
        <p:nvSpPr>
          <p:cNvPr id="58" name="Text 47"/>
          <p:cNvSpPr txBox="1"/>
          <p:nvPr/>
        </p:nvSpPr>
        <p:spPr>
          <a:xfrm>
            <a:off x="6839712" y="58247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в месяц</a:t>
            </a:r>
            <a:endParaRPr lang="en-US" sz="1050" dirty="0"/>
          </a:p>
        </p:txBody>
      </p:sp>
      <p:sp>
        <p:nvSpPr>
          <p:cNvPr id="59" name="Shape 48"/>
          <p:cNvSpPr/>
          <p:nvPr/>
        </p:nvSpPr>
        <p:spPr>
          <a:xfrm>
            <a:off x="8686800" y="5413248"/>
            <a:ext cx="0" cy="685800"/>
          </a:xfrm>
          <a:prstGeom prst="line">
            <a:avLst/>
          </a:prstGeom>
          <a:noFill/>
          <a:ln w="12700">
            <a:solidFill>
              <a:srgbClr val="EEE6DA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823960" y="5358384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выручки 2026</a:t>
            </a:r>
            <a:endParaRPr lang="en-US" sz="1050" dirty="0"/>
          </a:p>
        </p:txBody>
      </p:sp>
      <p:sp>
        <p:nvSpPr>
          <p:cNvPr id="61" name="Shape 50"/>
          <p:cNvSpPr/>
          <p:nvPr/>
        </p:nvSpPr>
        <p:spPr>
          <a:xfrm>
            <a:off x="8823960" y="5632704"/>
            <a:ext cx="2127681" cy="182880"/>
          </a:xfrm>
          <a:prstGeom prst="rect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10951641" y="5632704"/>
            <a:ext cx="409267" cy="182880"/>
          </a:xfrm>
          <a:prstGeom prst="rect">
            <a:avLst/>
          </a:prstGeom>
          <a:solidFill>
            <a:srgbClr val="D9824F"/>
          </a:solidFill>
          <a:ln w="12700">
            <a:solidFill>
              <a:srgbClr val="D9824F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11360908" y="5632704"/>
            <a:ext cx="36576" cy="182880"/>
          </a:xfrm>
          <a:prstGeom prst="rect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8823960" y="5870448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B2G 84%</a:t>
            </a:r>
            <a:pPr indent="0" marL="0">
              <a:buNone/>
            </a:pPr>
            <a:r>
              <a:rPr lang="en-US" sz="10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10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16%</a:t>
            </a:r>
            <a:pPr indent="0" marL="0">
              <a:buNone/>
            </a:pPr>
            <a:r>
              <a:rPr lang="en-US" sz="10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1000" b="1" dirty="0">
                <a:solidFill>
                  <a:srgbClr val="B0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гранты 0,2%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295351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Социальная значимость бизнеса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Помогаем человеку, семье и региону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926080" y="177393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9707" y="1897563"/>
            <a:ext cx="228234" cy="22823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04672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1 000+*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рабочих мест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26883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сотрудники и специалисты по уходу в 3 регионах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94760" y="157276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172200" y="177393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27" y="1897563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050792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200+*</a:t>
            </a:r>
            <a:endParaRPr lang="en-US" sz="3600" dirty="0"/>
          </a:p>
        </p:txBody>
      </p:sp>
      <p:sp>
        <p:nvSpPr>
          <p:cNvPr id="18" name="Text 14"/>
          <p:cNvSpPr txBox="1"/>
          <p:nvPr/>
        </p:nvSpPr>
        <p:spPr>
          <a:xfrm>
            <a:off x="4050792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работают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050792" y="26883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пришлось уходить с работы, чтобы ухаживать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48640" y="344728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2926080" y="3648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707" y="3772083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04672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23*</a:t>
            </a:r>
            <a:endParaRPr lang="en-US" sz="3600" dirty="0"/>
          </a:p>
        </p:txBody>
      </p:sp>
      <p:sp>
        <p:nvSpPr>
          <p:cNvPr id="24" name="Text 19"/>
          <p:cNvSpPr txBox="1"/>
          <p:nvPr/>
        </p:nvSpPr>
        <p:spPr>
          <a:xfrm>
            <a:off x="804672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муниципальных района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04672" y="4562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 рядом с домом в 3 регионах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3794760" y="344728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172200" y="3648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827" y="3772083"/>
            <a:ext cx="228234" cy="22823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050792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4050792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ежедневно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4050792" y="4562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сохраняют самостоятельность дома и в пансионате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440680"/>
            <a:ext cx="6355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Снижаем нагрузку на социальные и медицинские службы и предупреждаем осложнения у подопечных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7223760" y="1572768"/>
            <a:ext cx="4416552" cy="4709160"/>
          </a:xfrm>
          <a:prstGeom prst="roundRect">
            <a:avLst>
              <a:gd name="adj" fmla="val 2899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498080" y="1755648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Благотворительные инициативы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7498080" y="214884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Фонда президентских грантов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498080" y="2468880"/>
            <a:ext cx="1865376" cy="548640"/>
          </a:xfrm>
          <a:prstGeom prst="roundRect">
            <a:avLst>
              <a:gd name="adj" fmla="val 16667"/>
            </a:avLst>
          </a:prstGeom>
          <a:solidFill>
            <a:srgbClr val="0E6B65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498080" y="24688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9500616" y="2468880"/>
            <a:ext cx="1865376" cy="548640"/>
          </a:xfrm>
          <a:prstGeom prst="roundRect">
            <a:avLst>
              <a:gd name="adj" fmla="val 16667"/>
            </a:avLst>
          </a:prstGeom>
          <a:solidFill>
            <a:srgbClr val="0E6B65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9500616" y="24688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Бесплатная перевозка</a:t>
            </a:r>
            <a:endParaRPr lang="en-US" sz="12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01568"/>
            <a:ext cx="384048" cy="38404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8001000" y="32461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300+*</a:t>
            </a:r>
            <a:endParaRPr lang="en-US" sz="3600" dirty="0"/>
          </a:p>
        </p:txBody>
      </p:sp>
      <p:sp>
        <p:nvSpPr>
          <p:cNvPr id="42" name="Text 35"/>
          <p:cNvSpPr txBox="1"/>
          <p:nvPr/>
        </p:nvSpPr>
        <p:spPr>
          <a:xfrm>
            <a:off x="9464040" y="3273552"/>
            <a:ext cx="1947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волонтёров проводят праздники и акции для подопечных</a:t>
            </a:r>
            <a:endParaRPr lang="en-US" sz="1200" dirty="0"/>
          </a:p>
        </p:txBody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4224528"/>
            <a:ext cx="274320" cy="274320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7882128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год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7498080" y="4572000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пожилого человека · 23 Февраля · 8 Марта · Неделя инвалидов</a:t>
            </a:r>
            <a:endParaRPr lang="en-US" sz="1200" dirty="0"/>
          </a:p>
        </p:txBody>
      </p:sp>
      <p:sp>
        <p:nvSpPr>
          <p:cNvPr id="46" name="Text 38"/>
          <p:cNvSpPr txBox="1"/>
          <p:nvPr/>
        </p:nvSpPr>
        <p:spPr>
          <a:xfrm>
            <a:off x="7498080" y="5285232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Вокруг подопечных складывается сообщество заботы — семьи, волонтёры, специалисты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О команде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Команда, которая построила систему ухода в 3 регионах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0" name="Image 0" descr="img/c_team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47088"/>
            <a:ext cx="1097280" cy="1097280"/>
          </a:xfrm>
          <a:prstGeom prst="ellipse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103120" y="1865376"/>
            <a:ext cx="844906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103120" y="1865376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103120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 и масштабирование, система долговременного ухода, работа с государством, новые направления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79392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80560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7" name="Image 1" descr="img/c_team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847088"/>
            <a:ext cx="1097280" cy="1097280"/>
          </a:xfrm>
          <a:prstGeom prst="ellipse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833872" y="1865376"/>
            <a:ext cx="1486814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33872" y="1865376"/>
            <a:ext cx="1486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бухгалтер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5833872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Алёна Минькина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507992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Финансы и бюджет, управленческий учёт, сопровождение госсубсидий, экономическая устойчивость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010144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211312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24" name="Image 2" descr="img/c_team1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1847088"/>
            <a:ext cx="1097280" cy="1097280"/>
          </a:xfrm>
          <a:prstGeom prst="ellipse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64624" y="1865376"/>
            <a:ext cx="1772107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564624" y="1865376"/>
            <a:ext cx="17721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9564624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Эндже Латыпова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38744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Бизнес-процессы, координация подразделений, контроль задач, стабильная работа команды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548640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9808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31" name="Image 3" descr="img/c_team2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4050792"/>
            <a:ext cx="1097280" cy="1097280"/>
          </a:xfrm>
          <a:prstGeom prst="ellipse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2103120" y="4069080"/>
            <a:ext cx="1772107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2103120" y="4069080"/>
            <a:ext cx="17721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2103120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Айгуль Хасамутдинова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777240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пансионатами, стационарный уход, персонал, контроль качества и стандартов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4279392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4480560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38" name="Image 4" descr="img/c_team2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050792"/>
            <a:ext cx="1097280" cy="1097280"/>
          </a:xfrm>
          <a:prstGeom prst="ellipse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5833872" y="4069080"/>
            <a:ext cx="1058875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5833872" y="4069080"/>
            <a:ext cx="10588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IT-продукты</a:t>
            </a:r>
            <a:endParaRPr lang="en-US" sz="950" dirty="0"/>
          </a:p>
        </p:txBody>
      </p:sp>
      <p:sp>
        <p:nvSpPr>
          <p:cNvPr id="41" name="Text 34"/>
          <p:cNvSpPr txBox="1"/>
          <p:nvPr/>
        </p:nvSpPr>
        <p:spPr>
          <a:xfrm>
            <a:off x="5833872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Айрат Сагдеев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4507992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IT-продукты, разработка и продуктовая аналитика, Sidelka Online, цифровизация ухода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8010144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8211312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45" name="Image 5" descr="img/c_team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4050792"/>
            <a:ext cx="1097280" cy="1097280"/>
          </a:xfrm>
          <a:prstGeom prst="ellipse">
            <a:avLst/>
          </a:prstGeom>
        </p:spPr>
      </p:pic>
      <p:sp>
        <p:nvSpPr>
          <p:cNvPr id="46" name="Shape 38"/>
          <p:cNvSpPr/>
          <p:nvPr/>
        </p:nvSpPr>
        <p:spPr>
          <a:xfrm>
            <a:off x="9564624" y="4069080"/>
            <a:ext cx="844906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9564624" y="4069080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</a:t>
            </a:r>
            <a:endParaRPr lang="en-US" sz="950" dirty="0"/>
          </a:p>
        </p:txBody>
      </p:sp>
      <p:sp>
        <p:nvSpPr>
          <p:cNvPr id="48" name="Text 40"/>
          <p:cNvSpPr txBox="1"/>
          <p:nvPr/>
        </p:nvSpPr>
        <p:spPr>
          <a:xfrm>
            <a:off x="9564624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Роза Закирова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238744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Психологическая поддержка подопечных и родственников, профилактика выгорания команды</a:t>
            </a:r>
            <a:endParaRPr lang="en-US" sz="1050" dirty="0"/>
          </a:p>
        </p:txBody>
      </p:sp>
      <p:sp>
        <p:nvSpPr>
          <p:cNvPr id="50" name="Text 42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1 000+* </a:t>
            </a:r>
            <a:pPr indent="0" marL="0">
              <a:buNone/>
            </a:pPr>
            <a:r>
              <a:rPr lang="en-US" sz="140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специалистов и сотрудников системы ухода в 3 регионах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4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07</a:t>
            </a:r>
            <a:endParaRPr lang="en-US" sz="9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737360"/>
            <a:ext cx="6949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</a:t>
            </a:r>
            <a:endParaRPr lang="en-US" sz="46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привилегия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7472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 — сделать качественный уход доступным в каждом городе. Sidelka Online поможет масштабировать то, что уже работает в трёх регионах.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983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8183880" y="1188720"/>
            <a:ext cx="3017520" cy="30175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21040" y="1325880"/>
            <a:ext cx="2743200" cy="274320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0" name="Image 1" descr="img/c_team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417320"/>
            <a:ext cx="2560320" cy="256032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80960" y="4434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80960" y="48646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Центр «Содействие» — Петрова Полина</dc:title>
  <dc:subject>PptxGenJS Presentation</dc:subject>
  <dc:creator>PptxGenJS</dc:creator>
  <cp:lastModifiedBy>PptxGenJS</cp:lastModifiedBy>
  <cp:revision>1</cp:revision>
  <dcterms:created xsi:type="dcterms:W3CDTF">2026-09-29T12:20:03Z</dcterms:created>
  <dcterms:modified xsi:type="dcterms:W3CDTF">2026-09-29T12:20:03Z</dcterms:modified>
</cp:coreProperties>
</file>