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Подопечные</c:v>
                </c:pt>
              </c:strCache>
            </c:strRef>
          </c:tx>
          <c:spPr>
            <a:solidFill>
              <a:srgbClr val="DDEEE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400" u="none">
                    <a:solidFill>
                      <a:srgbClr val="1E2F3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DDEEEB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E6B65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D9824F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2019 (пилот)</c:v>
                  </c:pt>
                  <c:pt idx="1">
                    <c:v>2020</c:v>
                  </c:pt>
                  <c:pt idx="2">
                    <c:v>2026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198</c:v>
                </c:pt>
                <c:pt idx="1">
                  <c:v>544</c:v>
                </c:pt>
                <c:pt idx="2">
                  <c:v>955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400" u="none">
                  <a:solidFill>
                    <a:srgbClr val="1E2F33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F6B7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0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png"/><Relationship Id="rId10" Type="http://schemas.openxmlformats.org/officeDocument/2006/relationships/image" Target="../media/image-3-10.png"/><Relationship Id="rId11" Type="http://schemas.openxmlformats.org/officeDocument/2006/relationships/image" Target="../media/image-3-11.png"/><Relationship Id="rId12" Type="http://schemas.openxmlformats.org/officeDocument/2006/relationships/image" Target="../media/image-3-12.png"/><Relationship Id="rId13" Type="http://schemas.openxmlformats.org/officeDocument/2006/relationships/image" Target="../media/image-3-13.png"/><Relationship Id="rId14" Type="http://schemas.openxmlformats.org/officeDocument/2006/relationships/slideLayout" Target="../slideLayouts/slideLayout1.xml"/><Relationship Id="rId1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image" Target="../media/image-4-1.png"/><Relationship Id="rId3" Type="http://schemas.openxmlformats.org/officeDocument/2006/relationships/image" Target="../media/image-4-2.png"/><Relationship Id="rId4" Type="http://schemas.openxmlformats.org/officeDocument/2006/relationships/image" Target="../media/image-4-3.png"/><Relationship Id="rId5" Type="http://schemas.openxmlformats.org/officeDocument/2006/relationships/image" Target="../media/image-4-4.png"/><Relationship Id="rId6" Type="http://schemas.openxmlformats.org/officeDocument/2006/relationships/image" Target="../media/image-4-5.png"/><Relationship Id="rId7" Type="http://schemas.openxmlformats.org/officeDocument/2006/relationships/image" Target="../media/image-4-6.png"/><Relationship Id="rId8" Type="http://schemas.openxmlformats.org/officeDocument/2006/relationships/image" Target="../media/image-4-7.png"/><Relationship Id="rId9" Type="http://schemas.openxmlformats.org/officeDocument/2006/relationships/image" Target="../media/image-4-8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image" Target="../media/image-6-2.jpg"/><Relationship Id="rId3" Type="http://schemas.openxmlformats.org/officeDocument/2006/relationships/image" Target="../media/image-6-3.jpg"/><Relationship Id="rId4" Type="http://schemas.openxmlformats.org/officeDocument/2006/relationships/image" Target="../media/image-6-4.jpg"/><Relationship Id="rId5" Type="http://schemas.openxmlformats.org/officeDocument/2006/relationships/image" Target="../media/image-6-5.jpg"/><Relationship Id="rId6" Type="http://schemas.openxmlformats.org/officeDocument/2006/relationships/image" Target="../media/image-6-6.jp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4C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g/polina_full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02552" y="0"/>
            <a:ext cx="5486400" cy="6858000"/>
          </a:xfrm>
          <a:prstGeom prst="rect">
            <a:avLst/>
          </a:prstGeom>
        </p:spPr>
      </p:pic>
      <p:pic>
        <p:nvPicPr>
          <p:cNvPr id="3" name="Image 1" descr="img/fad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3408" y="0"/>
            <a:ext cx="2377440" cy="68580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548640" y="548640"/>
            <a:ext cx="5257800" cy="365760"/>
          </a:xfrm>
          <a:prstGeom prst="roundRect">
            <a:avLst>
              <a:gd name="adj" fmla="val 50000"/>
            </a:avLst>
          </a:prstGeom>
          <a:solidFill>
            <a:srgbClr val="064C49"/>
          </a:solidFill>
          <a:ln w="12700">
            <a:solidFill>
              <a:srgbClr val="F0B47C"/>
            </a:solidFill>
            <a:prstDash val="solid"/>
          </a:ln>
        </p:spPr>
      </p:sp>
      <p:sp>
        <p:nvSpPr>
          <p:cNvPr id="5" name="Text 1"/>
          <p:cNvSpPr txBox="1"/>
          <p:nvPr/>
        </p:nvSpPr>
        <p:spPr>
          <a:xfrm>
            <a:off x="548640" y="548640"/>
            <a:ext cx="5257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0B4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Всероссийская премия «Молодой предприниматель России»</a:t>
            </a:r>
            <a:endParaRPr lang="en-US" sz="1150" dirty="0"/>
          </a:p>
        </p:txBody>
      </p:sp>
      <p:sp>
        <p:nvSpPr>
          <p:cNvPr id="6" name="Text 2"/>
          <p:cNvSpPr txBox="1"/>
          <p:nvPr/>
        </p:nvSpPr>
        <p:spPr>
          <a:xfrm>
            <a:off x="548640" y="1234440"/>
            <a:ext cx="64008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Центр</a:t>
            </a:r>
            <a:endParaRPr lang="en-US" sz="5200" dirty="0"/>
          </a:p>
          <a:p>
            <a:pPr indent="0" marL="0">
              <a:lnSpc>
                <a:spcPct val="92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«Содействие»</a:t>
            </a:r>
            <a:endParaRPr lang="en-US" sz="5200" dirty="0"/>
          </a:p>
        </p:txBody>
      </p:sp>
      <p:sp>
        <p:nvSpPr>
          <p:cNvPr id="7" name="Text 3"/>
          <p:cNvSpPr txBox="1"/>
          <p:nvPr/>
        </p:nvSpPr>
        <p:spPr>
          <a:xfrm>
            <a:off x="548640" y="297180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F0B4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Экосистема достойного ухода</a:t>
            </a:r>
            <a:endParaRPr lang="en-US" sz="2400" dirty="0"/>
          </a:p>
        </p:txBody>
      </p:sp>
      <p:sp>
        <p:nvSpPr>
          <p:cNvPr id="8" name="Text 4"/>
          <p:cNvSpPr txBox="1"/>
          <p:nvPr/>
        </p:nvSpPr>
        <p:spPr>
          <a:xfrm>
            <a:off x="548640" y="3520440"/>
            <a:ext cx="5760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EAF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Возвращаем человеку самостоятельность, а семье — возможность быть семьёй</a:t>
            </a:r>
            <a:endParaRPr lang="en-US" sz="1600" dirty="0"/>
          </a:p>
        </p:txBody>
      </p:sp>
      <p:sp>
        <p:nvSpPr>
          <p:cNvPr id="9" name="Text 5"/>
          <p:cNvSpPr txBox="1"/>
          <p:nvPr/>
        </p:nvSpPr>
        <p:spPr>
          <a:xfrm>
            <a:off x="548640" y="4480560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3600" dirty="0"/>
          </a:p>
        </p:txBody>
      </p:sp>
      <p:sp>
        <p:nvSpPr>
          <p:cNvPr id="10" name="Text 6"/>
          <p:cNvSpPr txBox="1"/>
          <p:nvPr/>
        </p:nvSpPr>
        <p:spPr>
          <a:xfrm>
            <a:off x="548640" y="5047488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CC7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лет в сфере ухода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2377440" y="4526280"/>
            <a:ext cx="0" cy="868680"/>
          </a:xfrm>
          <a:prstGeom prst="line">
            <a:avLst/>
          </a:prstGeom>
          <a:noFill/>
          <a:ln w="12700">
            <a:solidFill>
              <a:srgbClr val="2E6F6B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2560320" y="4480560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3*</a:t>
            </a:r>
            <a:endParaRPr lang="en-US" sz="3600" dirty="0"/>
          </a:p>
        </p:txBody>
      </p:sp>
      <p:sp>
        <p:nvSpPr>
          <p:cNvPr id="13" name="Text 9"/>
          <p:cNvSpPr txBox="1"/>
          <p:nvPr/>
        </p:nvSpPr>
        <p:spPr>
          <a:xfrm>
            <a:off x="2560320" y="5047488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CC7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региона, 23 района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4389120" y="4526280"/>
            <a:ext cx="0" cy="868680"/>
          </a:xfrm>
          <a:prstGeom prst="line">
            <a:avLst/>
          </a:prstGeom>
          <a:noFill/>
          <a:ln w="12700">
            <a:solidFill>
              <a:srgbClr val="2E6F6B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4572000" y="4480560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955*</a:t>
            </a:r>
            <a:endParaRPr lang="en-US" sz="3600" dirty="0"/>
          </a:p>
        </p:txBody>
      </p:sp>
      <p:sp>
        <p:nvSpPr>
          <p:cNvPr id="16" name="Text 12"/>
          <p:cNvSpPr txBox="1"/>
          <p:nvPr/>
        </p:nvSpPr>
        <p:spPr>
          <a:xfrm>
            <a:off x="4572000" y="5047488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CC7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подопечных ежедневно</a:t>
            </a:r>
            <a:endParaRPr lang="en-US" sz="1200" dirty="0"/>
          </a:p>
        </p:txBody>
      </p:sp>
      <p:sp>
        <p:nvSpPr>
          <p:cNvPr id="17" name="Text 13"/>
          <p:cNvSpPr txBox="1"/>
          <p:nvPr/>
        </p:nvSpPr>
        <p:spPr>
          <a:xfrm>
            <a:off x="548640" y="576072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Петрова Полина Александровна</a:t>
            </a:r>
            <a:endParaRPr lang="en-US" sz="2000" dirty="0"/>
          </a:p>
        </p:txBody>
      </p:sp>
      <p:sp>
        <p:nvSpPr>
          <p:cNvPr id="18" name="Text 14"/>
          <p:cNvSpPr txBox="1"/>
          <p:nvPr/>
        </p:nvSpPr>
        <p:spPr>
          <a:xfrm>
            <a:off x="548640" y="610819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CC7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Руководитель Центра «Содействие» · Республика Татарстан</a:t>
            </a:r>
            <a:endParaRPr lang="en-US" sz="1300" dirty="0"/>
          </a:p>
        </p:txBody>
      </p:sp>
      <p:sp>
        <p:nvSpPr>
          <p:cNvPr id="19" name="Text 15"/>
          <p:cNvSpPr txBox="1"/>
          <p:nvPr/>
        </p:nvSpPr>
        <p:spPr>
          <a:xfrm>
            <a:off x="548640" y="6419088"/>
            <a:ext cx="6035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i="1" dirty="0">
                <a:solidFill>
                  <a:srgbClr val="9CC7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Показатели группы «Содействие» (АНО ЦСП, АНО ЦСО, АНО РЦСП, АНО ПЦСП «Содействие», ИП Петрова П. А.) — единая система долговременного ухода, созданная под руководством П. А. Петровой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565392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Всероссийская премия «Молодой предприниматель России»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0543032" y="6565392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/ 07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384048"/>
            <a:ext cx="2221992" cy="310896"/>
          </a:xfrm>
          <a:prstGeom prst="roundRect">
            <a:avLst>
              <a:gd name="adj" fmla="val 50000"/>
            </a:avLst>
          </a:prstGeom>
          <a:solidFill>
            <a:srgbClr val="DDEEEB"/>
          </a:solidFill>
          <a:ln w="12700">
            <a:solidFill>
              <a:srgbClr val="DDEEE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384048"/>
            <a:ext cx="22219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6B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 ·  О бизнесе участника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786384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64C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лет: от личной боли к системе ухода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548640" y="1572768"/>
            <a:ext cx="11091672" cy="1572768"/>
          </a:xfrm>
          <a:prstGeom prst="roundRect">
            <a:avLst>
              <a:gd name="adj" fmla="val 814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38100" dir="5400000">
              <a:srgbClr val="0B3B39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280160" y="1938528"/>
            <a:ext cx="9628632" cy="0"/>
          </a:xfrm>
          <a:prstGeom prst="line">
            <a:avLst/>
          </a:prstGeom>
          <a:noFill/>
          <a:ln w="50800">
            <a:solidFill>
              <a:srgbClr val="DDEE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70432" y="1828800"/>
            <a:ext cx="219456" cy="219456"/>
          </a:xfrm>
          <a:prstGeom prst="ellipse">
            <a:avLst/>
          </a:prstGeom>
          <a:solidFill>
            <a:srgbClr val="0E6B65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221284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64C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2015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2523744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F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Первый центр,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5F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Владимир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545951" y="1828800"/>
            <a:ext cx="219456" cy="219456"/>
          </a:xfrm>
          <a:prstGeom prst="ellipse">
            <a:avLst/>
          </a:prstGeom>
          <a:solidFill>
            <a:srgbClr val="0E6B65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924159" y="221284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64C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2016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1924159" y="2523744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F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Выход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5F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Татарстан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921470" y="1828800"/>
            <a:ext cx="219456" cy="219456"/>
          </a:xfrm>
          <a:prstGeom prst="ellipse">
            <a:avLst/>
          </a:prstGeom>
          <a:solidFill>
            <a:srgbClr val="0E6B65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299678" y="221284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64C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2018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3299678" y="2523744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F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Пансионат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5F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«Милосердие»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296989" y="1828800"/>
            <a:ext cx="219456" cy="219456"/>
          </a:xfrm>
          <a:prstGeom prst="ellipse">
            <a:avLst/>
          </a:prstGeom>
          <a:solidFill>
            <a:srgbClr val="0E6B65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675197" y="221284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64C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2019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4675197" y="2523744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F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Пилот СДУ: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5F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198 человек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672507" y="1828800"/>
            <a:ext cx="219456" cy="219456"/>
          </a:xfrm>
          <a:prstGeom prst="ellipse">
            <a:avLst/>
          </a:prstGeom>
          <a:solidFill>
            <a:srgbClr val="0E6B65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050715" y="221284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64C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2020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6050715" y="2523744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F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544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5F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подопечных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8048026" y="1828800"/>
            <a:ext cx="219456" cy="219456"/>
          </a:xfrm>
          <a:prstGeom prst="ellipse">
            <a:avLst/>
          </a:prstGeom>
          <a:solidFill>
            <a:srgbClr val="0E6B65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426234" y="221284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64C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2021–22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7426234" y="2523744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F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СДУ во Владимирской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5F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 Пензенской обл.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9423545" y="1828800"/>
            <a:ext cx="219456" cy="219456"/>
          </a:xfrm>
          <a:prstGeom prst="ellipse">
            <a:avLst/>
          </a:prstGeom>
          <a:solidFill>
            <a:srgbClr val="0E6B65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8801753" y="221284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64C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2023</a:t>
            </a:r>
            <a:endParaRPr lang="en-US" sz="1500" dirty="0"/>
          </a:p>
        </p:txBody>
      </p:sp>
      <p:sp>
        <p:nvSpPr>
          <p:cNvPr id="29" name="Text 27"/>
          <p:cNvSpPr txBox="1"/>
          <p:nvPr/>
        </p:nvSpPr>
        <p:spPr>
          <a:xfrm>
            <a:off x="8801753" y="2523744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F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Пансионат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5F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«Ярдэм»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10707624" y="1737360"/>
            <a:ext cx="402336" cy="402336"/>
          </a:xfrm>
          <a:prstGeom prst="ellipse">
            <a:avLst/>
          </a:prstGeom>
          <a:solidFill>
            <a:srgbClr val="FBE3CF"/>
          </a:solidFill>
          <a:ln w="12700">
            <a:solidFill>
              <a:srgbClr val="FBE3C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0799064" y="1828800"/>
            <a:ext cx="219456" cy="219456"/>
          </a:xfrm>
          <a:prstGeom prst="ellipse">
            <a:avLst/>
          </a:prstGeom>
          <a:solidFill>
            <a:srgbClr val="D9824F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10177272" y="221284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D98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</a:t>
            </a:r>
            <a:endParaRPr lang="en-US" sz="1500" dirty="0"/>
          </a:p>
        </p:txBody>
      </p:sp>
      <p:sp>
        <p:nvSpPr>
          <p:cNvPr id="33" name="Text 31"/>
          <p:cNvSpPr txBox="1"/>
          <p:nvPr/>
        </p:nvSpPr>
        <p:spPr>
          <a:xfrm>
            <a:off x="10177272" y="2523744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F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Тест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5F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Sidelka Online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3383280"/>
            <a:ext cx="3566160" cy="2880360"/>
          </a:xfrm>
          <a:prstGeom prst="roundRect">
            <a:avLst>
              <a:gd name="adj" fmla="val 4444"/>
            </a:avLst>
          </a:prstGeom>
          <a:solidFill>
            <a:srgbClr val="064C49"/>
          </a:solidFill>
          <a:ln w="12700">
            <a:solidFill>
              <a:srgbClr val="064C49"/>
            </a:solidFill>
            <a:prstDash val="solid"/>
          </a:ln>
        </p:spPr>
      </p:sp>
      <p:pic>
        <p:nvPicPr>
          <p:cNvPr id="3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248" y="3611880"/>
            <a:ext cx="384048" cy="384048"/>
          </a:xfrm>
          <a:prstGeom prst="rect">
            <a:avLst/>
          </a:prstGeom>
        </p:spPr>
      </p:pic>
      <p:sp>
        <p:nvSpPr>
          <p:cNvPr id="36" name="Text 33"/>
          <p:cNvSpPr txBox="1"/>
          <p:nvPr/>
        </p:nvSpPr>
        <p:spPr>
          <a:xfrm>
            <a:off x="841248" y="411480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Достойная старость — не привилегия</a:t>
            </a:r>
            <a:endParaRPr lang="en-US" sz="2100" dirty="0"/>
          </a:p>
        </p:txBody>
      </p:sp>
      <p:sp>
        <p:nvSpPr>
          <p:cNvPr id="37" name="Text 34"/>
          <p:cNvSpPr txBox="1"/>
          <p:nvPr/>
        </p:nvSpPr>
        <p:spPr>
          <a:xfrm>
            <a:off x="841248" y="493776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AF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Каждый пожилой человек получает помощь и остаётся самостоятельным — независимо от того, есть ли рядом родственники.</a:t>
            </a:r>
            <a:endParaRPr lang="en-US" sz="1200" dirty="0"/>
          </a:p>
        </p:txBody>
      </p:sp>
      <p:sp>
        <p:nvSpPr>
          <p:cNvPr id="38" name="Text 35"/>
          <p:cNvSpPr txBox="1"/>
          <p:nvPr/>
        </p:nvSpPr>
        <p:spPr>
          <a:xfrm>
            <a:off x="841248" y="5833872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0B4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Достоинство · Автономность · Доверие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297680" y="3383280"/>
            <a:ext cx="4526280" cy="288036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38100" dir="5400000">
              <a:srgbClr val="0B3B39">
                <a:alpha val="8000"/>
              </a:srgbClr>
            </a:outerShdw>
          </a:effectLst>
        </p:spPr>
      </p:sp>
      <p:sp>
        <p:nvSpPr>
          <p:cNvPr id="40" name="Text 37"/>
          <p:cNvSpPr txBox="1"/>
          <p:nvPr/>
        </p:nvSpPr>
        <p:spPr>
          <a:xfrm>
            <a:off x="4572000" y="354787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D98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Кратко о бизнесе</a:t>
            </a:r>
            <a:endParaRPr lang="en-US" sz="1300" dirty="0"/>
          </a:p>
        </p:txBody>
      </p:sp>
      <p:sp>
        <p:nvSpPr>
          <p:cNvPr id="41" name="Shape 38"/>
          <p:cNvSpPr/>
          <p:nvPr/>
        </p:nvSpPr>
        <p:spPr>
          <a:xfrm>
            <a:off x="4572000" y="3931920"/>
            <a:ext cx="420624" cy="420624"/>
          </a:xfrm>
          <a:prstGeom prst="ellipse">
            <a:avLst/>
          </a:prstGeom>
          <a:solidFill>
            <a:srgbClr val="DDEEEB"/>
          </a:solidFill>
          <a:ln w="12700">
            <a:solidFill>
              <a:srgbClr val="DDEEEB"/>
            </a:solidFill>
            <a:prstDash val="solid"/>
          </a:ln>
        </p:spPr>
      </p:sp>
      <p:pic>
        <p:nvPicPr>
          <p:cNvPr id="4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1362" y="4041282"/>
            <a:ext cx="201900" cy="201900"/>
          </a:xfrm>
          <a:prstGeom prst="rect">
            <a:avLst/>
          </a:prstGeom>
        </p:spPr>
      </p:pic>
      <p:sp>
        <p:nvSpPr>
          <p:cNvPr id="43" name="Text 39"/>
          <p:cNvSpPr txBox="1"/>
          <p:nvPr/>
        </p:nvSpPr>
        <p:spPr>
          <a:xfrm>
            <a:off x="5138928" y="3913632"/>
            <a:ext cx="3520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64C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Отрасль. </a:t>
            </a:r>
            <a:pPr indent="0" marL="0">
              <a:buNone/>
            </a:pPr>
            <a:r>
              <a:rPr lang="en-US" sz="1150" dirty="0">
                <a:solidFill>
                  <a:srgbClr val="1E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Социальные услуги: уход за пожилыми и тяжелобольными</a:t>
            </a:r>
            <a:endParaRPr lang="en-US" sz="1150" dirty="0"/>
          </a:p>
        </p:txBody>
      </p:sp>
      <p:sp>
        <p:nvSpPr>
          <p:cNvPr id="44" name="Shape 40"/>
          <p:cNvSpPr/>
          <p:nvPr/>
        </p:nvSpPr>
        <p:spPr>
          <a:xfrm>
            <a:off x="4572000" y="4498848"/>
            <a:ext cx="420624" cy="420624"/>
          </a:xfrm>
          <a:prstGeom prst="ellipse">
            <a:avLst/>
          </a:prstGeom>
          <a:solidFill>
            <a:srgbClr val="DDEEEB"/>
          </a:solidFill>
          <a:ln w="12700">
            <a:solidFill>
              <a:srgbClr val="DDEEEB"/>
            </a:solidFill>
            <a:prstDash val="solid"/>
          </a:ln>
        </p:spPr>
      </p:sp>
      <p:pic>
        <p:nvPicPr>
          <p:cNvPr id="4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81362" y="4608210"/>
            <a:ext cx="201900" cy="201900"/>
          </a:xfrm>
          <a:prstGeom prst="rect">
            <a:avLst/>
          </a:prstGeom>
        </p:spPr>
      </p:pic>
      <p:sp>
        <p:nvSpPr>
          <p:cNvPr id="46" name="Text 41"/>
          <p:cNvSpPr txBox="1"/>
          <p:nvPr/>
        </p:nvSpPr>
        <p:spPr>
          <a:xfrm>
            <a:off x="5138928" y="4480560"/>
            <a:ext cx="3520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64C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Для кого. </a:t>
            </a:r>
            <a:pPr indent="0" marL="0">
              <a:buNone/>
            </a:pPr>
            <a:r>
              <a:rPr lang="en-US" sz="1150" dirty="0">
                <a:solidFill>
                  <a:srgbClr val="1E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Люди, потерявшие самостоятельность, их семьи, государство</a:t>
            </a:r>
            <a:endParaRPr lang="en-US" sz="1150" dirty="0"/>
          </a:p>
        </p:txBody>
      </p:sp>
      <p:sp>
        <p:nvSpPr>
          <p:cNvPr id="47" name="Shape 42"/>
          <p:cNvSpPr/>
          <p:nvPr/>
        </p:nvSpPr>
        <p:spPr>
          <a:xfrm>
            <a:off x="4572000" y="5065776"/>
            <a:ext cx="420624" cy="420624"/>
          </a:xfrm>
          <a:prstGeom prst="ellipse">
            <a:avLst/>
          </a:prstGeom>
          <a:solidFill>
            <a:srgbClr val="DDEEEB"/>
          </a:solidFill>
          <a:ln w="12700">
            <a:solidFill>
              <a:srgbClr val="DDEEEB"/>
            </a:solidFill>
            <a:prstDash val="solid"/>
          </a:ln>
        </p:spPr>
      </p:sp>
      <p:pic>
        <p:nvPicPr>
          <p:cNvPr id="4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81362" y="5175138"/>
            <a:ext cx="201900" cy="201900"/>
          </a:xfrm>
          <a:prstGeom prst="rect">
            <a:avLst/>
          </a:prstGeom>
        </p:spPr>
      </p:pic>
      <p:sp>
        <p:nvSpPr>
          <p:cNvPr id="49" name="Text 43"/>
          <p:cNvSpPr txBox="1"/>
          <p:nvPr/>
        </p:nvSpPr>
        <p:spPr>
          <a:xfrm>
            <a:off x="5138928" y="5047488"/>
            <a:ext cx="3520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64C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Продукт. </a:t>
            </a:r>
            <a:pPr indent="0" marL="0">
              <a:buNone/>
            </a:pPr>
            <a:r>
              <a:rPr lang="en-US" sz="1150" dirty="0">
                <a:solidFill>
                  <a:srgbClr val="1E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Уход на дому, пансионаты, обучение, прокат ТСР, эрготерапия</a:t>
            </a:r>
            <a:endParaRPr lang="en-US" sz="1150" dirty="0"/>
          </a:p>
        </p:txBody>
      </p:sp>
      <p:sp>
        <p:nvSpPr>
          <p:cNvPr id="50" name="Shape 44"/>
          <p:cNvSpPr/>
          <p:nvPr/>
        </p:nvSpPr>
        <p:spPr>
          <a:xfrm>
            <a:off x="4572000" y="5632704"/>
            <a:ext cx="420624" cy="420624"/>
          </a:xfrm>
          <a:prstGeom prst="ellipse">
            <a:avLst/>
          </a:prstGeom>
          <a:solidFill>
            <a:srgbClr val="DDEEEB"/>
          </a:solidFill>
          <a:ln w="12700">
            <a:solidFill>
              <a:srgbClr val="DDEEEB"/>
            </a:solidFill>
            <a:prstDash val="solid"/>
          </a:ln>
        </p:spPr>
      </p:sp>
      <p:pic>
        <p:nvPicPr>
          <p:cNvPr id="5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81362" y="5742066"/>
            <a:ext cx="201900" cy="201900"/>
          </a:xfrm>
          <a:prstGeom prst="rect">
            <a:avLst/>
          </a:prstGeom>
        </p:spPr>
      </p:pic>
      <p:sp>
        <p:nvSpPr>
          <p:cNvPr id="52" name="Text 45"/>
          <p:cNvSpPr txBox="1"/>
          <p:nvPr/>
        </p:nvSpPr>
        <p:spPr>
          <a:xfrm>
            <a:off x="5138928" y="5614416"/>
            <a:ext cx="3520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64C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Ценность. </a:t>
            </a:r>
            <a:pPr indent="0" marL="0">
              <a:buNone/>
            </a:pPr>
            <a:r>
              <a:rPr lang="en-US" sz="1150" dirty="0">
                <a:solidFill>
                  <a:srgbClr val="1E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Проверенная помощь за 1–2 дня в «одном окне»</a:t>
            </a:r>
            <a:endParaRPr lang="en-US" sz="1150" dirty="0"/>
          </a:p>
        </p:txBody>
      </p:sp>
      <p:pic>
        <p:nvPicPr>
          <p:cNvPr id="53" name="Image 5" descr="img/elder_r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88552" y="3383280"/>
            <a:ext cx="2651760" cy="28803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565392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Всероссийская премия «Молодой предприниматель России»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0543032" y="6565392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/ 07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384048"/>
            <a:ext cx="3392424" cy="310896"/>
          </a:xfrm>
          <a:prstGeom prst="roundRect">
            <a:avLst>
              <a:gd name="adj" fmla="val 50000"/>
            </a:avLst>
          </a:prstGeom>
          <a:solidFill>
            <a:srgbClr val="DDEEEB"/>
          </a:solidFill>
          <a:ln w="12700">
            <a:solidFill>
              <a:srgbClr val="DDEEE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384048"/>
            <a:ext cx="33924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6B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 ·  Уникальность и актуальность бизнеса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786384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64C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Помощь за 1–2 дня вместо 3 недель ожидания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355080"/>
            <a:ext cx="11091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i="1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Показатели группы «Содействие» (АНО ЦСП, АНО ЦСО, АНО РЦСП, АНО ПЦСП «Содействие», ИП Петрова П. А.) — единая система долговременного ухода, созданная под руководством П. А. Петровой</a:t>
            </a:r>
            <a:endParaRPr 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1572768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D98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Почему выбирают нас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212080" y="1920240"/>
            <a:ext cx="2240280" cy="2926080"/>
          </a:xfrm>
          <a:prstGeom prst="roundRect">
            <a:avLst>
              <a:gd name="adj" fmla="val 5714"/>
            </a:avLst>
          </a:prstGeom>
          <a:solidFill>
            <a:srgbClr val="EAF7F5"/>
          </a:solidFill>
          <a:ln w="19050">
            <a:solidFill>
              <a:srgbClr val="0E6B6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1993392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2377440" y="1993392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F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Госучреждение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3794760" y="1993392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F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Частная сиделка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5257800" y="1993392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64C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Содействие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2432304"/>
            <a:ext cx="4663440" cy="0"/>
          </a:xfrm>
          <a:prstGeom prst="line">
            <a:avLst/>
          </a:prstGeom>
          <a:noFill/>
          <a:ln w="12700">
            <a:solidFill>
              <a:srgbClr val="ECECEC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48640" y="2487168"/>
            <a:ext cx="1783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Срок начала помощи</a:t>
            </a:r>
            <a:endParaRPr lang="en-US" sz="1300" dirty="0"/>
          </a:p>
        </p:txBody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80944" y="2532888"/>
            <a:ext cx="164592" cy="164592"/>
          </a:xfrm>
          <a:prstGeom prst="rect">
            <a:avLst/>
          </a:prstGeom>
        </p:spPr>
      </p:pic>
      <p:sp>
        <p:nvSpPr>
          <p:cNvPr id="17" name="Text 14"/>
          <p:cNvSpPr txBox="1"/>
          <p:nvPr/>
        </p:nvSpPr>
        <p:spPr>
          <a:xfrm>
            <a:off x="2377440" y="274320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F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 3 недель</a:t>
            </a:r>
            <a:endParaRPr lang="en-US" sz="1100" dirty="0"/>
          </a:p>
        </p:txBody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1124" y="2532888"/>
            <a:ext cx="164592" cy="164592"/>
          </a:xfrm>
          <a:prstGeom prst="rect">
            <a:avLst/>
          </a:prstGeom>
        </p:spPr>
      </p:pic>
      <p:sp>
        <p:nvSpPr>
          <p:cNvPr id="19" name="Text 15"/>
          <p:cNvSpPr txBox="1"/>
          <p:nvPr/>
        </p:nvSpPr>
        <p:spPr>
          <a:xfrm>
            <a:off x="3794760" y="2743200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F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ищут сами</a:t>
            </a:r>
            <a:endParaRPr lang="en-US" sz="1100" dirty="0"/>
          </a:p>
        </p:txBody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0780" y="2514600"/>
            <a:ext cx="182880" cy="182880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5349240" y="274320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64C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1–2 дня</a:t>
            </a:r>
            <a:endParaRPr lang="en-US" sz="1250" dirty="0"/>
          </a:p>
        </p:txBody>
      </p:sp>
      <p:sp>
        <p:nvSpPr>
          <p:cNvPr id="22" name="Shape 17"/>
          <p:cNvSpPr/>
          <p:nvPr/>
        </p:nvSpPr>
        <p:spPr>
          <a:xfrm>
            <a:off x="548640" y="3200400"/>
            <a:ext cx="4663440" cy="0"/>
          </a:xfrm>
          <a:prstGeom prst="line">
            <a:avLst/>
          </a:prstGeom>
          <a:noFill/>
          <a:ln w="12700">
            <a:solidFill>
              <a:srgbClr val="ECECEC"/>
            </a:solidFill>
            <a:prstDash val="solid"/>
          </a:ln>
        </p:spPr>
      </p:sp>
      <p:sp>
        <p:nvSpPr>
          <p:cNvPr id="23" name="Text 18"/>
          <p:cNvSpPr txBox="1"/>
          <p:nvPr/>
        </p:nvSpPr>
        <p:spPr>
          <a:xfrm>
            <a:off x="548640" y="3255264"/>
            <a:ext cx="1783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Квалификация персонала</a:t>
            </a:r>
            <a:endParaRPr lang="en-US" sz="1300" dirty="0"/>
          </a:p>
        </p:txBody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80944" y="3300984"/>
            <a:ext cx="164592" cy="164592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2377440" y="3511296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F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есть</a:t>
            </a:r>
            <a:endParaRPr lang="en-US" sz="1100" dirty="0"/>
          </a:p>
        </p:txBody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21124" y="3300984"/>
            <a:ext cx="164592" cy="164592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3794760" y="3511296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F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сложно проверить</a:t>
            </a:r>
            <a:endParaRPr lang="en-US" sz="1100" dirty="0"/>
          </a:p>
        </p:txBody>
      </p:sp>
      <p:pic>
        <p:nvPicPr>
          <p:cNvPr id="2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40780" y="3282696"/>
            <a:ext cx="182880" cy="182880"/>
          </a:xfrm>
          <a:prstGeom prst="rect">
            <a:avLst/>
          </a:prstGeom>
        </p:spPr>
      </p:pic>
      <p:sp>
        <p:nvSpPr>
          <p:cNvPr id="29" name="Text 21"/>
          <p:cNvSpPr txBox="1"/>
          <p:nvPr/>
        </p:nvSpPr>
        <p:spPr>
          <a:xfrm>
            <a:off x="5349240" y="3511296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64C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1 500+ обученных*</a:t>
            </a:r>
            <a:endParaRPr lang="en-US" sz="1250" dirty="0"/>
          </a:p>
        </p:txBody>
      </p:sp>
      <p:sp>
        <p:nvSpPr>
          <p:cNvPr id="30" name="Shape 22"/>
          <p:cNvSpPr/>
          <p:nvPr/>
        </p:nvSpPr>
        <p:spPr>
          <a:xfrm>
            <a:off x="548640" y="3968496"/>
            <a:ext cx="4663440" cy="0"/>
          </a:xfrm>
          <a:prstGeom prst="line">
            <a:avLst/>
          </a:prstGeom>
          <a:noFill/>
          <a:ln w="12700">
            <a:solidFill>
              <a:srgbClr val="ECECEC"/>
            </a:solidFill>
            <a:prstDash val="solid"/>
          </a:ln>
        </p:spPr>
      </p:sp>
      <p:sp>
        <p:nvSpPr>
          <p:cNvPr id="31" name="Text 23"/>
          <p:cNvSpPr txBox="1"/>
          <p:nvPr/>
        </p:nvSpPr>
        <p:spPr>
          <a:xfrm>
            <a:off x="548640" y="4023360"/>
            <a:ext cx="1783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Полный маршрут ухода</a:t>
            </a:r>
            <a:endParaRPr lang="en-US" sz="1300" dirty="0"/>
          </a:p>
        </p:txBody>
      </p:sp>
      <p:pic>
        <p:nvPicPr>
          <p:cNvPr id="3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980944" y="4069080"/>
            <a:ext cx="164592" cy="164592"/>
          </a:xfrm>
          <a:prstGeom prst="rect">
            <a:avLst/>
          </a:prstGeom>
        </p:spPr>
      </p:pic>
      <p:sp>
        <p:nvSpPr>
          <p:cNvPr id="33" name="Text 24"/>
          <p:cNvSpPr txBox="1"/>
          <p:nvPr/>
        </p:nvSpPr>
        <p:spPr>
          <a:xfrm>
            <a:off x="2377440" y="4279392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F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отдельные услуги</a:t>
            </a:r>
            <a:endParaRPr lang="en-US" sz="1100" dirty="0"/>
          </a:p>
        </p:txBody>
      </p:sp>
      <p:pic>
        <p:nvPicPr>
          <p:cNvPr id="34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421124" y="4069080"/>
            <a:ext cx="164592" cy="164592"/>
          </a:xfrm>
          <a:prstGeom prst="rect">
            <a:avLst/>
          </a:prstGeom>
        </p:spPr>
      </p:pic>
      <p:sp>
        <p:nvSpPr>
          <p:cNvPr id="35" name="Text 25"/>
          <p:cNvSpPr txBox="1"/>
          <p:nvPr/>
        </p:nvSpPr>
        <p:spPr>
          <a:xfrm>
            <a:off x="3794760" y="4279392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F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только сиделка</a:t>
            </a:r>
            <a:endParaRPr lang="en-US" sz="1100" dirty="0"/>
          </a:p>
        </p:txBody>
      </p:sp>
      <p:pic>
        <p:nvPicPr>
          <p:cNvPr id="36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40780" y="4050792"/>
            <a:ext cx="182880" cy="182880"/>
          </a:xfrm>
          <a:prstGeom prst="rect">
            <a:avLst/>
          </a:prstGeom>
        </p:spPr>
      </p:pic>
      <p:sp>
        <p:nvSpPr>
          <p:cNvPr id="37" name="Text 26"/>
          <p:cNvSpPr txBox="1"/>
          <p:nvPr/>
        </p:nvSpPr>
        <p:spPr>
          <a:xfrm>
            <a:off x="5349240" y="4279392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64C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дом, пансионат, ТСР, обучение</a:t>
            </a:r>
            <a:endParaRPr lang="en-US" sz="1250" dirty="0"/>
          </a:p>
        </p:txBody>
      </p:sp>
      <p:sp>
        <p:nvSpPr>
          <p:cNvPr id="38" name="Shape 27"/>
          <p:cNvSpPr/>
          <p:nvPr/>
        </p:nvSpPr>
        <p:spPr>
          <a:xfrm>
            <a:off x="7635240" y="1572768"/>
            <a:ext cx="4005072" cy="3273552"/>
          </a:xfrm>
          <a:prstGeom prst="roundRect">
            <a:avLst>
              <a:gd name="adj" fmla="val 3911"/>
            </a:avLst>
          </a:prstGeom>
          <a:solidFill>
            <a:srgbClr val="F8F3EA"/>
          </a:solidFill>
          <a:ln w="9525">
            <a:solidFill>
              <a:srgbClr val="F8F3EA"/>
            </a:solidFill>
            <a:prstDash val="solid"/>
          </a:ln>
          <a:effectLst>
            <a:outerShdw sx="100000" sy="100000" kx="0" ky="0" algn="bl" rotWithShape="0" blurRad="127000" dist="38100" dir="5400000">
              <a:srgbClr val="0B3B39">
                <a:alpha val="8000"/>
              </a:srgbClr>
            </a:outerShdw>
          </a:effectLst>
        </p:spPr>
      </p:sp>
      <p:sp>
        <p:nvSpPr>
          <p:cNvPr id="39" name="Text 28"/>
          <p:cNvSpPr txBox="1"/>
          <p:nvPr/>
        </p:nvSpPr>
        <p:spPr>
          <a:xfrm>
            <a:off x="7909560" y="1737360"/>
            <a:ext cx="3547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D98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Почему это нужно сейчас</a:t>
            </a:r>
            <a:endParaRPr lang="en-US" sz="1400" dirty="0"/>
          </a:p>
        </p:txBody>
      </p:sp>
      <p:sp>
        <p:nvSpPr>
          <p:cNvPr id="40" name="Shape 29"/>
          <p:cNvSpPr/>
          <p:nvPr/>
        </p:nvSpPr>
        <p:spPr>
          <a:xfrm>
            <a:off x="7909560" y="2194560"/>
            <a:ext cx="502920" cy="502920"/>
          </a:xfrm>
          <a:prstGeom prst="ellipse">
            <a:avLst/>
          </a:prstGeom>
          <a:solidFill>
            <a:srgbClr val="0E6B65"/>
          </a:solidFill>
          <a:ln w="12700">
            <a:solidFill>
              <a:srgbClr val="0E6B65"/>
            </a:solidFill>
            <a:prstDash val="solid"/>
          </a:ln>
        </p:spPr>
      </p:sp>
      <p:pic>
        <p:nvPicPr>
          <p:cNvPr id="4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0319" y="2325319"/>
            <a:ext cx="241402" cy="241402"/>
          </a:xfrm>
          <a:prstGeom prst="rect">
            <a:avLst/>
          </a:prstGeom>
        </p:spPr>
      </p:pic>
      <p:sp>
        <p:nvSpPr>
          <p:cNvPr id="42" name="Text 30"/>
          <p:cNvSpPr txBox="1"/>
          <p:nvPr/>
        </p:nvSpPr>
        <p:spPr>
          <a:xfrm>
            <a:off x="8549640" y="2176272"/>
            <a:ext cx="28620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E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Население стареет — растёт число людей, которым нужен постоянный уход</a:t>
            </a:r>
            <a:endParaRPr lang="en-US" sz="1250" dirty="0"/>
          </a:p>
        </p:txBody>
      </p:sp>
      <p:sp>
        <p:nvSpPr>
          <p:cNvPr id="43" name="Shape 31"/>
          <p:cNvSpPr/>
          <p:nvPr/>
        </p:nvSpPr>
        <p:spPr>
          <a:xfrm>
            <a:off x="7909560" y="3063240"/>
            <a:ext cx="502920" cy="502920"/>
          </a:xfrm>
          <a:prstGeom prst="ellipse">
            <a:avLst/>
          </a:prstGeom>
          <a:solidFill>
            <a:srgbClr val="0E6B65"/>
          </a:solidFill>
          <a:ln w="12700">
            <a:solidFill>
              <a:srgbClr val="0E6B65"/>
            </a:solidFill>
            <a:prstDash val="solid"/>
          </a:ln>
        </p:spPr>
      </p:sp>
      <p:pic>
        <p:nvPicPr>
          <p:cNvPr id="44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040319" y="3193999"/>
            <a:ext cx="241402" cy="241402"/>
          </a:xfrm>
          <a:prstGeom prst="rect">
            <a:avLst/>
          </a:prstGeom>
        </p:spPr>
      </p:pic>
      <p:sp>
        <p:nvSpPr>
          <p:cNvPr id="45" name="Text 32"/>
          <p:cNvSpPr txBox="1"/>
          <p:nvPr/>
        </p:nvSpPr>
        <p:spPr>
          <a:xfrm>
            <a:off x="8549640" y="3044952"/>
            <a:ext cx="28620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E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Семья остаётся один на один с уходом и выпадает из работы</a:t>
            </a:r>
            <a:endParaRPr lang="en-US" sz="1250" dirty="0"/>
          </a:p>
        </p:txBody>
      </p:sp>
      <p:sp>
        <p:nvSpPr>
          <p:cNvPr id="46" name="Shape 33"/>
          <p:cNvSpPr/>
          <p:nvPr/>
        </p:nvSpPr>
        <p:spPr>
          <a:xfrm>
            <a:off x="7909560" y="3931920"/>
            <a:ext cx="502920" cy="502920"/>
          </a:xfrm>
          <a:prstGeom prst="ellipse">
            <a:avLst/>
          </a:prstGeom>
          <a:solidFill>
            <a:srgbClr val="0E6B65"/>
          </a:solidFill>
          <a:ln w="12700">
            <a:solidFill>
              <a:srgbClr val="0E6B65"/>
            </a:solidFill>
            <a:prstDash val="solid"/>
          </a:ln>
        </p:spPr>
      </p:sp>
      <p:pic>
        <p:nvPicPr>
          <p:cNvPr id="47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040319" y="4062679"/>
            <a:ext cx="241402" cy="241402"/>
          </a:xfrm>
          <a:prstGeom prst="rect">
            <a:avLst/>
          </a:prstGeom>
        </p:spPr>
      </p:pic>
      <p:sp>
        <p:nvSpPr>
          <p:cNvPr id="48" name="Text 34"/>
          <p:cNvSpPr txBox="1"/>
          <p:nvPr/>
        </p:nvSpPr>
        <p:spPr>
          <a:xfrm>
            <a:off x="8549640" y="3913632"/>
            <a:ext cx="28620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E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Госучреждения перегружены, рынок частных сиделок непрозрачен</a:t>
            </a:r>
            <a:endParaRPr lang="en-US" sz="1250" dirty="0"/>
          </a:p>
        </p:txBody>
      </p:sp>
      <p:sp>
        <p:nvSpPr>
          <p:cNvPr id="49" name="Shape 35"/>
          <p:cNvSpPr/>
          <p:nvPr/>
        </p:nvSpPr>
        <p:spPr>
          <a:xfrm>
            <a:off x="548640" y="5074920"/>
            <a:ext cx="11091672" cy="1207008"/>
          </a:xfrm>
          <a:prstGeom prst="roundRect">
            <a:avLst>
              <a:gd name="adj" fmla="val 10606"/>
            </a:avLst>
          </a:prstGeom>
          <a:solidFill>
            <a:srgbClr val="064C49"/>
          </a:solidFill>
          <a:ln w="12700">
            <a:solidFill>
              <a:srgbClr val="064C49"/>
            </a:solidFill>
            <a:prstDash val="solid"/>
          </a:ln>
        </p:spPr>
      </p:sp>
      <p:pic>
        <p:nvPicPr>
          <p:cNvPr id="50" name="Image 12" descr="img/tablet_r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94944" y="5175504"/>
            <a:ext cx="1005840" cy="1005840"/>
          </a:xfrm>
          <a:prstGeom prst="rect">
            <a:avLst/>
          </a:prstGeom>
        </p:spPr>
      </p:pic>
      <p:sp>
        <p:nvSpPr>
          <p:cNvPr id="51" name="Text 36"/>
          <p:cNvSpPr txBox="1"/>
          <p:nvPr/>
        </p:nvSpPr>
        <p:spPr>
          <a:xfrm>
            <a:off x="1920240" y="5230368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0B4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Инновация: Sidelka Online</a:t>
            </a:r>
            <a:endParaRPr lang="en-US" sz="1600" dirty="0"/>
          </a:p>
        </p:txBody>
      </p:sp>
      <p:sp>
        <p:nvSpPr>
          <p:cNvPr id="52" name="Text 37"/>
          <p:cNvSpPr txBox="1"/>
          <p:nvPr/>
        </p:nvSpPr>
        <p:spPr>
          <a:xfrm>
            <a:off x="1920240" y="5577840"/>
            <a:ext cx="5120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AF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Цифровая платформа: быстрый подбор проверенной сиделки, GPS-контроль визитов, ИИ-подсказки по уходу, обучение и рейтинг</a:t>
            </a:r>
            <a:endParaRPr lang="en-US" sz="1200" dirty="0"/>
          </a:p>
        </p:txBody>
      </p:sp>
      <p:sp>
        <p:nvSpPr>
          <p:cNvPr id="53" name="Text 38"/>
          <p:cNvSpPr txBox="1"/>
          <p:nvPr/>
        </p:nvSpPr>
        <p:spPr>
          <a:xfrm>
            <a:off x="7452360" y="5175504"/>
            <a:ext cx="1828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594</a:t>
            </a:r>
            <a:endParaRPr lang="en-US" sz="3600" dirty="0"/>
          </a:p>
        </p:txBody>
      </p:sp>
      <p:sp>
        <p:nvSpPr>
          <p:cNvPr id="54" name="Text 39"/>
          <p:cNvSpPr txBox="1"/>
          <p:nvPr/>
        </p:nvSpPr>
        <p:spPr>
          <a:xfrm>
            <a:off x="7452360" y="577900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CC7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сиделки в пилоте</a:t>
            </a:r>
            <a:endParaRPr lang="en-US" sz="1150" dirty="0"/>
          </a:p>
        </p:txBody>
      </p:sp>
      <p:sp>
        <p:nvSpPr>
          <p:cNvPr id="55" name="Shape 40"/>
          <p:cNvSpPr/>
          <p:nvPr/>
        </p:nvSpPr>
        <p:spPr>
          <a:xfrm>
            <a:off x="9326880" y="5303520"/>
            <a:ext cx="0" cy="777240"/>
          </a:xfrm>
          <a:prstGeom prst="line">
            <a:avLst/>
          </a:prstGeom>
          <a:noFill/>
          <a:ln w="12700">
            <a:solidFill>
              <a:srgbClr val="2E6F6B"/>
            </a:solidFill>
            <a:prstDash val="solid"/>
          </a:ln>
        </p:spPr>
      </p:sp>
      <p:sp>
        <p:nvSpPr>
          <p:cNvPr id="56" name="Text 41"/>
          <p:cNvSpPr txBox="1"/>
          <p:nvPr/>
        </p:nvSpPr>
        <p:spPr>
          <a:xfrm>
            <a:off x="9509760" y="5175504"/>
            <a:ext cx="1828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487</a:t>
            </a:r>
            <a:endParaRPr lang="en-US" sz="3600" dirty="0"/>
          </a:p>
        </p:txBody>
      </p:sp>
      <p:sp>
        <p:nvSpPr>
          <p:cNvPr id="57" name="Text 42"/>
          <p:cNvSpPr txBox="1"/>
          <p:nvPr/>
        </p:nvSpPr>
        <p:spPr>
          <a:xfrm>
            <a:off x="9509760" y="577900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CC7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родственников в пилоте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565392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Всероссийская премия «Молодой предприниматель России»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0543032" y="6565392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/ 07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384048"/>
            <a:ext cx="3465576" cy="310896"/>
          </a:xfrm>
          <a:prstGeom prst="roundRect">
            <a:avLst>
              <a:gd name="adj" fmla="val 50000"/>
            </a:avLst>
          </a:prstGeom>
          <a:solidFill>
            <a:srgbClr val="DDEEEB"/>
          </a:solidFill>
          <a:ln w="12700">
            <a:solidFill>
              <a:srgbClr val="DDEEE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384048"/>
            <a:ext cx="34655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6B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 ·  Основные показатели за 2025–2026 гг.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786384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64C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955* подопечных ежедневно и помощь за 1–2 дня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355080"/>
            <a:ext cx="11091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i="1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Показатели группы «Содействие» (АНО ЦСП, АНО ЦСО, АНО РЦСП, АНО ПЦСП «Содействие», ИП Петрова П. А.) — единая система долговременного ухода, созданная под руководством П. А. Петровой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548640" y="1572768"/>
            <a:ext cx="3931920" cy="3154680"/>
          </a:xfrm>
          <a:prstGeom prst="roundRect">
            <a:avLst>
              <a:gd name="adj" fmla="val 4058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38100" dir="5400000">
              <a:srgbClr val="0B3B39">
                <a:alpha val="8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804672" y="173736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64C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Подопечные на обслуживании*, чел.</a:t>
            </a:r>
            <a:endParaRPr lang="en-US" sz="1200" dirty="0"/>
          </a:p>
        </p:txBody>
      </p:sp>
      <p:graphicFrame>
        <p:nvGraphicFramePr>
          <p:cNvPr id="10" name="Chart 0" descr=""/>
          <p:cNvGraphicFramePr/>
          <p:nvPr/>
        </p:nvGraphicFramePr>
        <p:xfrm>
          <a:off x="685800" y="2057400"/>
          <a:ext cx="3657600" cy="2560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1" name="Shape 8"/>
          <p:cNvSpPr/>
          <p:nvPr/>
        </p:nvSpPr>
        <p:spPr>
          <a:xfrm>
            <a:off x="4663440" y="1572768"/>
            <a:ext cx="1965960" cy="1527048"/>
          </a:xfrm>
          <a:prstGeom prst="roundRect">
            <a:avLst>
              <a:gd name="adj" fmla="val 8383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38100" dir="5400000">
              <a:srgbClr val="0B3B39">
                <a:alpha val="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080760" y="1755648"/>
            <a:ext cx="384048" cy="384048"/>
          </a:xfrm>
          <a:prstGeom prst="ellipse">
            <a:avLst/>
          </a:prstGeom>
          <a:solidFill>
            <a:srgbClr val="DDEEEB"/>
          </a:solidFill>
          <a:ln w="12700">
            <a:solidFill>
              <a:srgbClr val="DDEEEB"/>
            </a:solidFill>
            <a:prstDash val="solid"/>
          </a:ln>
        </p:spPr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80612" y="1855500"/>
            <a:ext cx="184343" cy="184343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4864608" y="1956816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D98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902*</a:t>
            </a:r>
            <a:endParaRPr lang="en-US" sz="3000" dirty="0"/>
          </a:p>
        </p:txBody>
      </p:sp>
      <p:sp>
        <p:nvSpPr>
          <p:cNvPr id="15" name="Text 11"/>
          <p:cNvSpPr txBox="1"/>
          <p:nvPr/>
        </p:nvSpPr>
        <p:spPr>
          <a:xfrm>
            <a:off x="4864608" y="2551176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F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 дому ежедневно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6766560" y="1572768"/>
            <a:ext cx="1965960" cy="1527048"/>
          </a:xfrm>
          <a:prstGeom prst="roundRect">
            <a:avLst>
              <a:gd name="adj" fmla="val 8383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38100" dir="5400000">
              <a:srgbClr val="0B3B39">
                <a:alpha val="8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183880" y="1755648"/>
            <a:ext cx="384048" cy="384048"/>
          </a:xfrm>
          <a:prstGeom prst="ellipse">
            <a:avLst/>
          </a:prstGeom>
          <a:solidFill>
            <a:srgbClr val="DDEEEB"/>
          </a:solidFill>
          <a:ln w="12700">
            <a:solidFill>
              <a:srgbClr val="DDEEEB"/>
            </a:solidFill>
            <a:prstDash val="solid"/>
          </a:ln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83732" y="1855500"/>
            <a:ext cx="184343" cy="184343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6967728" y="1956816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64C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53*</a:t>
            </a:r>
            <a:endParaRPr lang="en-US" sz="3000" dirty="0"/>
          </a:p>
        </p:txBody>
      </p:sp>
      <p:sp>
        <p:nvSpPr>
          <p:cNvPr id="20" name="Text 15"/>
          <p:cNvSpPr txBox="1"/>
          <p:nvPr/>
        </p:nvSpPr>
        <p:spPr>
          <a:xfrm>
            <a:off x="6967728" y="2551176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F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стационарном уходе</a:t>
            </a:r>
            <a:endParaRPr lang="en-US" sz="1150" dirty="0"/>
          </a:p>
        </p:txBody>
      </p:sp>
      <p:sp>
        <p:nvSpPr>
          <p:cNvPr id="21" name="Shape 16"/>
          <p:cNvSpPr/>
          <p:nvPr/>
        </p:nvSpPr>
        <p:spPr>
          <a:xfrm>
            <a:off x="4663440" y="3200400"/>
            <a:ext cx="1965960" cy="1527048"/>
          </a:xfrm>
          <a:prstGeom prst="roundRect">
            <a:avLst>
              <a:gd name="adj" fmla="val 8383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38100" dir="5400000">
              <a:srgbClr val="0B3B39">
                <a:alpha val="8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6080760" y="3383280"/>
            <a:ext cx="384048" cy="384048"/>
          </a:xfrm>
          <a:prstGeom prst="ellipse">
            <a:avLst/>
          </a:prstGeom>
          <a:solidFill>
            <a:srgbClr val="DDEEEB"/>
          </a:solidFill>
          <a:ln w="12700">
            <a:solidFill>
              <a:srgbClr val="DDEEEB"/>
            </a:solidFill>
            <a:prstDash val="solid"/>
          </a:ln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80612" y="3483132"/>
            <a:ext cx="184343" cy="184343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4864608" y="3584448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64C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млн+*</a:t>
            </a:r>
            <a:endParaRPr lang="en-US" sz="3000" dirty="0"/>
          </a:p>
        </p:txBody>
      </p:sp>
      <p:sp>
        <p:nvSpPr>
          <p:cNvPr id="25" name="Text 19"/>
          <p:cNvSpPr txBox="1"/>
          <p:nvPr/>
        </p:nvSpPr>
        <p:spPr>
          <a:xfrm>
            <a:off x="4864608" y="4178808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F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социальных услуг в год</a:t>
            </a:r>
            <a:endParaRPr lang="en-US" sz="1150" dirty="0"/>
          </a:p>
        </p:txBody>
      </p:sp>
      <p:sp>
        <p:nvSpPr>
          <p:cNvPr id="26" name="Shape 20"/>
          <p:cNvSpPr/>
          <p:nvPr/>
        </p:nvSpPr>
        <p:spPr>
          <a:xfrm>
            <a:off x="6766560" y="3200400"/>
            <a:ext cx="1965960" cy="1527048"/>
          </a:xfrm>
          <a:prstGeom prst="roundRect">
            <a:avLst>
              <a:gd name="adj" fmla="val 8383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38100" dir="5400000">
              <a:srgbClr val="0B3B39">
                <a:alpha val="8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8183880" y="3383280"/>
            <a:ext cx="384048" cy="384048"/>
          </a:xfrm>
          <a:prstGeom prst="ellipse">
            <a:avLst/>
          </a:prstGeom>
          <a:solidFill>
            <a:srgbClr val="DDEEEB"/>
          </a:solidFill>
          <a:ln w="12700">
            <a:solidFill>
              <a:srgbClr val="DDEEEB"/>
            </a:solidFill>
            <a:prstDash val="solid"/>
          </a:ln>
        </p:spPr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83732" y="3483132"/>
            <a:ext cx="184343" cy="184343"/>
          </a:xfrm>
          <a:prstGeom prst="rect">
            <a:avLst/>
          </a:prstGeom>
        </p:spPr>
      </p:pic>
      <p:sp>
        <p:nvSpPr>
          <p:cNvPr id="29" name="Text 22"/>
          <p:cNvSpPr txBox="1"/>
          <p:nvPr/>
        </p:nvSpPr>
        <p:spPr>
          <a:xfrm>
            <a:off x="6967728" y="3584448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64C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1 500+*</a:t>
            </a:r>
            <a:endParaRPr lang="en-US" sz="3000" dirty="0"/>
          </a:p>
        </p:txBody>
      </p:sp>
      <p:sp>
        <p:nvSpPr>
          <p:cNvPr id="30" name="Text 23"/>
          <p:cNvSpPr txBox="1"/>
          <p:nvPr/>
        </p:nvSpPr>
        <p:spPr>
          <a:xfrm>
            <a:off x="6967728" y="4178808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F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помощников обучено</a:t>
            </a:r>
            <a:endParaRPr lang="en-US" sz="1150" dirty="0"/>
          </a:p>
        </p:txBody>
      </p:sp>
      <p:sp>
        <p:nvSpPr>
          <p:cNvPr id="31" name="Shape 24"/>
          <p:cNvSpPr/>
          <p:nvPr/>
        </p:nvSpPr>
        <p:spPr>
          <a:xfrm>
            <a:off x="8961120" y="1572768"/>
            <a:ext cx="2679192" cy="3154680"/>
          </a:xfrm>
          <a:prstGeom prst="roundRect">
            <a:avLst>
              <a:gd name="adj" fmla="val 4778"/>
            </a:avLst>
          </a:prstGeom>
          <a:solidFill>
            <a:srgbClr val="064C49"/>
          </a:solidFill>
          <a:ln w="12700">
            <a:solidFill>
              <a:srgbClr val="064C49"/>
            </a:solidFill>
            <a:prstDash val="solid"/>
          </a:ln>
        </p:spPr>
      </p:sp>
      <p:sp>
        <p:nvSpPr>
          <p:cNvPr id="32" name="Text 25"/>
          <p:cNvSpPr txBox="1"/>
          <p:nvPr/>
        </p:nvSpPr>
        <p:spPr>
          <a:xfrm>
            <a:off x="9189720" y="1737360"/>
            <a:ext cx="2313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0B4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Качественные результаты</a:t>
            </a:r>
            <a:endParaRPr lang="en-US" sz="1200" dirty="0"/>
          </a:p>
        </p:txBody>
      </p:sp>
      <p:pic>
        <p:nvPicPr>
          <p:cNvPr id="33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89720" y="2148840"/>
            <a:ext cx="201168" cy="201168"/>
          </a:xfrm>
          <a:prstGeom prst="rect">
            <a:avLst/>
          </a:prstGeom>
        </p:spPr>
      </p:pic>
      <p:sp>
        <p:nvSpPr>
          <p:cNvPr id="34" name="Text 26"/>
          <p:cNvSpPr txBox="1"/>
          <p:nvPr/>
        </p:nvSpPr>
        <p:spPr>
          <a:xfrm>
            <a:off x="9509760" y="2121408"/>
            <a:ext cx="1993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нед. → 1–2 дня</a:t>
            </a:r>
            <a:endParaRPr lang="en-US" sz="1250" dirty="0"/>
          </a:p>
        </p:txBody>
      </p:sp>
      <p:sp>
        <p:nvSpPr>
          <p:cNvPr id="35" name="Text 27"/>
          <p:cNvSpPr txBox="1"/>
          <p:nvPr/>
        </p:nvSpPr>
        <p:spPr>
          <a:xfrm>
            <a:off x="9509760" y="2386584"/>
            <a:ext cx="199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CC7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срок организации помощи</a:t>
            </a:r>
            <a:endParaRPr lang="en-US" sz="1050" dirty="0"/>
          </a:p>
        </p:txBody>
      </p:sp>
      <p:pic>
        <p:nvPicPr>
          <p:cNvPr id="36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89720" y="2788920"/>
            <a:ext cx="201168" cy="201168"/>
          </a:xfrm>
          <a:prstGeom prst="rect">
            <a:avLst/>
          </a:prstGeom>
        </p:spPr>
      </p:pic>
      <p:sp>
        <p:nvSpPr>
          <p:cNvPr id="37" name="Text 28"/>
          <p:cNvSpPr txBox="1"/>
          <p:nvPr/>
        </p:nvSpPr>
        <p:spPr>
          <a:xfrm>
            <a:off x="9509760" y="2761488"/>
            <a:ext cx="1993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проекта ФПГ</a:t>
            </a:r>
            <a:endParaRPr lang="en-US" sz="1250" dirty="0"/>
          </a:p>
        </p:txBody>
      </p:sp>
      <p:sp>
        <p:nvSpPr>
          <p:cNvPr id="38" name="Text 29"/>
          <p:cNvSpPr txBox="1"/>
          <p:nvPr/>
        </p:nvSpPr>
        <p:spPr>
          <a:xfrm>
            <a:off x="9509760" y="3026664"/>
            <a:ext cx="199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CC7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 Деменция и «Перевозка»</a:t>
            </a:r>
            <a:endParaRPr lang="en-US" sz="1050" dirty="0"/>
          </a:p>
        </p:txBody>
      </p:sp>
      <p:pic>
        <p:nvPicPr>
          <p:cNvPr id="39" name="Image 6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89720" y="3429000"/>
            <a:ext cx="201168" cy="201168"/>
          </a:xfrm>
          <a:prstGeom prst="rect">
            <a:avLst/>
          </a:prstGeom>
        </p:spPr>
      </p:pic>
      <p:sp>
        <p:nvSpPr>
          <p:cNvPr id="40" name="Text 30"/>
          <p:cNvSpPr txBox="1"/>
          <p:nvPr/>
        </p:nvSpPr>
        <p:spPr>
          <a:xfrm>
            <a:off x="9509760" y="3401568"/>
            <a:ext cx="1993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200+ родственников*</a:t>
            </a:r>
            <a:endParaRPr lang="en-US" sz="1250" dirty="0"/>
          </a:p>
        </p:txBody>
      </p:sp>
      <p:sp>
        <p:nvSpPr>
          <p:cNvPr id="41" name="Text 31"/>
          <p:cNvSpPr txBox="1"/>
          <p:nvPr/>
        </p:nvSpPr>
        <p:spPr>
          <a:xfrm>
            <a:off x="9509760" y="3666744"/>
            <a:ext cx="199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CC7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сохранили работу</a:t>
            </a:r>
            <a:endParaRPr lang="en-US" sz="1050" dirty="0"/>
          </a:p>
        </p:txBody>
      </p:sp>
      <p:pic>
        <p:nvPicPr>
          <p:cNvPr id="42" name="Image 7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189720" y="4069080"/>
            <a:ext cx="201168" cy="201168"/>
          </a:xfrm>
          <a:prstGeom prst="rect">
            <a:avLst/>
          </a:prstGeom>
        </p:spPr>
      </p:pic>
      <p:sp>
        <p:nvSpPr>
          <p:cNvPr id="43" name="Text 32"/>
          <p:cNvSpPr txBox="1"/>
          <p:nvPr/>
        </p:nvSpPr>
        <p:spPr>
          <a:xfrm>
            <a:off x="9509760" y="4041648"/>
            <a:ext cx="1993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Пилот платформы</a:t>
            </a:r>
            <a:endParaRPr lang="en-US" sz="1250" dirty="0"/>
          </a:p>
        </p:txBody>
      </p:sp>
      <p:sp>
        <p:nvSpPr>
          <p:cNvPr id="44" name="Text 33"/>
          <p:cNvSpPr txBox="1"/>
          <p:nvPr/>
        </p:nvSpPr>
        <p:spPr>
          <a:xfrm>
            <a:off x="9509760" y="4306824"/>
            <a:ext cx="199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CC7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Sidelka Online в тесте</a:t>
            </a:r>
            <a:endParaRPr lang="en-US" sz="1050" dirty="0"/>
          </a:p>
        </p:txBody>
      </p:sp>
      <p:sp>
        <p:nvSpPr>
          <p:cNvPr id="45" name="Shape 34"/>
          <p:cNvSpPr/>
          <p:nvPr/>
        </p:nvSpPr>
        <p:spPr>
          <a:xfrm>
            <a:off x="548640" y="4919472"/>
            <a:ext cx="11091672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38100" dir="5400000">
              <a:srgbClr val="0B3B39">
                <a:alpha val="8000"/>
              </a:srgbClr>
            </a:outerShdw>
          </a:effectLst>
        </p:spPr>
      </p:sp>
      <p:sp>
        <p:nvSpPr>
          <p:cNvPr id="46" name="Text 35"/>
          <p:cNvSpPr txBox="1"/>
          <p:nvPr/>
        </p:nvSpPr>
        <p:spPr>
          <a:xfrm>
            <a:off x="804672" y="5029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D98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Финансовые показатели группы*</a:t>
            </a:r>
            <a:endParaRPr lang="en-US" sz="1200" dirty="0"/>
          </a:p>
        </p:txBody>
      </p:sp>
      <p:sp>
        <p:nvSpPr>
          <p:cNvPr id="47" name="Text 36"/>
          <p:cNvSpPr txBox="1"/>
          <p:nvPr/>
        </p:nvSpPr>
        <p:spPr>
          <a:xfrm>
            <a:off x="804672" y="534924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64C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309,5 млн ₽</a:t>
            </a:r>
            <a:endParaRPr lang="en-US" sz="2200" dirty="0"/>
          </a:p>
        </p:txBody>
      </p:sp>
      <p:sp>
        <p:nvSpPr>
          <p:cNvPr id="48" name="Text 37"/>
          <p:cNvSpPr txBox="1"/>
          <p:nvPr/>
        </p:nvSpPr>
        <p:spPr>
          <a:xfrm>
            <a:off x="804672" y="5824728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F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выручка 2025</a:t>
            </a:r>
            <a:endParaRPr lang="en-US" sz="1050" dirty="0"/>
          </a:p>
        </p:txBody>
      </p:sp>
      <p:sp>
        <p:nvSpPr>
          <p:cNvPr id="49" name="Shape 38"/>
          <p:cNvSpPr/>
          <p:nvPr/>
        </p:nvSpPr>
        <p:spPr>
          <a:xfrm>
            <a:off x="2679192" y="5413248"/>
            <a:ext cx="0" cy="685800"/>
          </a:xfrm>
          <a:prstGeom prst="line">
            <a:avLst/>
          </a:prstGeom>
          <a:noFill/>
          <a:ln w="12700">
            <a:solidFill>
              <a:srgbClr val="EEE6DA"/>
            </a:solidFill>
            <a:prstDash val="solid"/>
          </a:ln>
        </p:spPr>
      </p:sp>
      <p:sp>
        <p:nvSpPr>
          <p:cNvPr id="50" name="Text 39"/>
          <p:cNvSpPr txBox="1"/>
          <p:nvPr/>
        </p:nvSpPr>
        <p:spPr>
          <a:xfrm>
            <a:off x="2816352" y="534924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98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403,3 млн ₽</a:t>
            </a:r>
            <a:endParaRPr lang="en-US" sz="2200" dirty="0"/>
          </a:p>
        </p:txBody>
      </p:sp>
      <p:sp>
        <p:nvSpPr>
          <p:cNvPr id="51" name="Text 40"/>
          <p:cNvSpPr txBox="1"/>
          <p:nvPr/>
        </p:nvSpPr>
        <p:spPr>
          <a:xfrm>
            <a:off x="2816352" y="5824728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F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прогноз на конец 2026, +30%</a:t>
            </a:r>
            <a:endParaRPr lang="en-US" sz="1050" dirty="0"/>
          </a:p>
        </p:txBody>
      </p:sp>
      <p:sp>
        <p:nvSpPr>
          <p:cNvPr id="52" name="Shape 41"/>
          <p:cNvSpPr/>
          <p:nvPr/>
        </p:nvSpPr>
        <p:spPr>
          <a:xfrm>
            <a:off x="4690872" y="5413248"/>
            <a:ext cx="0" cy="685800"/>
          </a:xfrm>
          <a:prstGeom prst="line">
            <a:avLst/>
          </a:prstGeom>
          <a:noFill/>
          <a:ln w="12700">
            <a:solidFill>
              <a:srgbClr val="EEE6DA"/>
            </a:solidFill>
            <a:prstDash val="solid"/>
          </a:ln>
        </p:spPr>
      </p:sp>
      <p:sp>
        <p:nvSpPr>
          <p:cNvPr id="53" name="Text 42"/>
          <p:cNvSpPr txBox="1"/>
          <p:nvPr/>
        </p:nvSpPr>
        <p:spPr>
          <a:xfrm>
            <a:off x="4828032" y="534924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64C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+57%</a:t>
            </a:r>
            <a:endParaRPr lang="en-US" sz="2200" dirty="0"/>
          </a:p>
        </p:txBody>
      </p:sp>
      <p:sp>
        <p:nvSpPr>
          <p:cNvPr id="54" name="Text 43"/>
          <p:cNvSpPr txBox="1"/>
          <p:nvPr/>
        </p:nvSpPr>
        <p:spPr>
          <a:xfrm>
            <a:off x="4828032" y="5824728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F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рост выручки B2C за год</a:t>
            </a:r>
            <a:endParaRPr lang="en-US" sz="1050" dirty="0"/>
          </a:p>
        </p:txBody>
      </p:sp>
      <p:sp>
        <p:nvSpPr>
          <p:cNvPr id="55" name="Shape 44"/>
          <p:cNvSpPr/>
          <p:nvPr/>
        </p:nvSpPr>
        <p:spPr>
          <a:xfrm>
            <a:off x="6702552" y="5413248"/>
            <a:ext cx="0" cy="685800"/>
          </a:xfrm>
          <a:prstGeom prst="line">
            <a:avLst/>
          </a:prstGeom>
          <a:noFill/>
          <a:ln w="12700">
            <a:solidFill>
              <a:srgbClr val="EEE6DA"/>
            </a:solidFill>
            <a:prstDash val="solid"/>
          </a:ln>
        </p:spPr>
      </p:sp>
      <p:sp>
        <p:nvSpPr>
          <p:cNvPr id="56" name="Text 45"/>
          <p:cNvSpPr txBox="1"/>
          <p:nvPr/>
        </p:nvSpPr>
        <p:spPr>
          <a:xfrm>
            <a:off x="6839712" y="5340096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4C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78 000 ₽</a:t>
            </a:r>
            <a:pPr indent="0" marL="0">
              <a:buNone/>
            </a:pPr>
            <a:r>
              <a:rPr lang="en-US" sz="1050" dirty="0">
                <a:solidFill>
                  <a:srgbClr val="5F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пансионат</a:t>
            </a:r>
            <a:endParaRPr lang="en-US" sz="1500" dirty="0"/>
          </a:p>
        </p:txBody>
      </p:sp>
      <p:sp>
        <p:nvSpPr>
          <p:cNvPr id="57" name="Text 46"/>
          <p:cNvSpPr txBox="1"/>
          <p:nvPr/>
        </p:nvSpPr>
        <p:spPr>
          <a:xfrm>
            <a:off x="6839712" y="5568696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4C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26 400 ₽</a:t>
            </a:r>
            <a:pPr indent="0" marL="0">
              <a:buNone/>
            </a:pPr>
            <a:r>
              <a:rPr lang="en-US" sz="1050" dirty="0">
                <a:solidFill>
                  <a:srgbClr val="5F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сиделка</a:t>
            </a:r>
            <a:endParaRPr lang="en-US" sz="1500" dirty="0"/>
          </a:p>
        </p:txBody>
      </p:sp>
      <p:sp>
        <p:nvSpPr>
          <p:cNvPr id="58" name="Text 47"/>
          <p:cNvSpPr txBox="1"/>
          <p:nvPr/>
        </p:nvSpPr>
        <p:spPr>
          <a:xfrm>
            <a:off x="6839712" y="5824728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F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средний чек в месяц</a:t>
            </a:r>
            <a:endParaRPr lang="en-US" sz="1050" dirty="0"/>
          </a:p>
        </p:txBody>
      </p:sp>
      <p:sp>
        <p:nvSpPr>
          <p:cNvPr id="59" name="Shape 48"/>
          <p:cNvSpPr/>
          <p:nvPr/>
        </p:nvSpPr>
        <p:spPr>
          <a:xfrm>
            <a:off x="8686800" y="5413248"/>
            <a:ext cx="0" cy="685800"/>
          </a:xfrm>
          <a:prstGeom prst="line">
            <a:avLst/>
          </a:prstGeom>
          <a:noFill/>
          <a:ln w="12700">
            <a:solidFill>
              <a:srgbClr val="EEE6DA"/>
            </a:solidFill>
            <a:prstDash val="solid"/>
          </a:ln>
        </p:spPr>
      </p:sp>
      <p:sp>
        <p:nvSpPr>
          <p:cNvPr id="60" name="Text 49"/>
          <p:cNvSpPr txBox="1"/>
          <p:nvPr/>
        </p:nvSpPr>
        <p:spPr>
          <a:xfrm>
            <a:off x="8823960" y="5358384"/>
            <a:ext cx="25420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E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Структура выручки 2026</a:t>
            </a:r>
            <a:endParaRPr lang="en-US" sz="1050" dirty="0"/>
          </a:p>
        </p:txBody>
      </p:sp>
      <p:sp>
        <p:nvSpPr>
          <p:cNvPr id="61" name="Shape 50"/>
          <p:cNvSpPr/>
          <p:nvPr/>
        </p:nvSpPr>
        <p:spPr>
          <a:xfrm>
            <a:off x="8823960" y="5632704"/>
            <a:ext cx="2127681" cy="182880"/>
          </a:xfrm>
          <a:prstGeom prst="rect">
            <a:avLst/>
          </a:prstGeom>
          <a:solidFill>
            <a:srgbClr val="0E6B65"/>
          </a:solidFill>
          <a:ln w="12700">
            <a:solidFill>
              <a:srgbClr val="0E6B65"/>
            </a:solidFill>
            <a:prstDash val="solid"/>
          </a:ln>
        </p:spPr>
      </p:sp>
      <p:sp>
        <p:nvSpPr>
          <p:cNvPr id="62" name="Shape 51"/>
          <p:cNvSpPr/>
          <p:nvPr/>
        </p:nvSpPr>
        <p:spPr>
          <a:xfrm>
            <a:off x="10951641" y="5632704"/>
            <a:ext cx="409267" cy="182880"/>
          </a:xfrm>
          <a:prstGeom prst="rect">
            <a:avLst/>
          </a:prstGeom>
          <a:solidFill>
            <a:srgbClr val="D9824F"/>
          </a:solidFill>
          <a:ln w="12700">
            <a:solidFill>
              <a:srgbClr val="D9824F"/>
            </a:solidFill>
            <a:prstDash val="solid"/>
          </a:ln>
        </p:spPr>
      </p:sp>
      <p:sp>
        <p:nvSpPr>
          <p:cNvPr id="63" name="Shape 52"/>
          <p:cNvSpPr/>
          <p:nvPr/>
        </p:nvSpPr>
        <p:spPr>
          <a:xfrm>
            <a:off x="11360908" y="5632704"/>
            <a:ext cx="36576" cy="182880"/>
          </a:xfrm>
          <a:prstGeom prst="rect">
            <a:avLst/>
          </a:prstGeom>
          <a:solidFill>
            <a:srgbClr val="F0B47C"/>
          </a:solidFill>
          <a:ln w="12700">
            <a:solidFill>
              <a:srgbClr val="F0B47C"/>
            </a:solidFill>
            <a:prstDash val="solid"/>
          </a:ln>
        </p:spPr>
      </p:sp>
      <p:sp>
        <p:nvSpPr>
          <p:cNvPr id="64" name="Text 53"/>
          <p:cNvSpPr txBox="1"/>
          <p:nvPr/>
        </p:nvSpPr>
        <p:spPr>
          <a:xfrm>
            <a:off x="8823960" y="5870448"/>
            <a:ext cx="25420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0E6B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B2G 84%</a:t>
            </a:r>
            <a:pPr indent="0" marL="0">
              <a:buNone/>
            </a:pPr>
            <a:r>
              <a:rPr lang="en-US" sz="1000" dirty="0">
                <a:solidFill>
                  <a:srgbClr val="5F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·  </a:t>
            </a:r>
            <a:pPr indent="0" marL="0">
              <a:buNone/>
            </a:pPr>
            <a:r>
              <a:rPr lang="en-US" sz="1000" b="1" dirty="0">
                <a:solidFill>
                  <a:srgbClr val="D98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B2C 16%</a:t>
            </a:r>
            <a:pPr indent="0" marL="0">
              <a:buNone/>
            </a:pPr>
            <a:r>
              <a:rPr lang="en-US" sz="1000" dirty="0">
                <a:solidFill>
                  <a:srgbClr val="5F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·  </a:t>
            </a:r>
            <a:pPr indent="0" marL="0">
              <a:buNone/>
            </a:pPr>
            <a:r>
              <a:rPr lang="en-US" sz="1000" b="1" dirty="0">
                <a:solidFill>
                  <a:srgbClr val="B07A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гранты 0,2%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565392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Всероссийская премия «Молодой предприниматель России»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0543032" y="6565392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/ 07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384048"/>
            <a:ext cx="2953512" cy="310896"/>
          </a:xfrm>
          <a:prstGeom prst="roundRect">
            <a:avLst>
              <a:gd name="adj" fmla="val 50000"/>
            </a:avLst>
          </a:prstGeom>
          <a:solidFill>
            <a:srgbClr val="DDEEEB"/>
          </a:solidFill>
          <a:ln w="12700">
            <a:solidFill>
              <a:srgbClr val="DDEEE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384048"/>
            <a:ext cx="29535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6B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 ·  Социальная значимость бизнеса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786384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64C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Помогаем человеку, семье и региону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355080"/>
            <a:ext cx="11091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i="1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Показатели группы «Содействие» (АНО ЦСП, АНО ЦСО, АНО РЦСП, АНО ПЦСП «Содействие», ИП Петрова П. А.) — единая система долговременного ухода, созданная под руководством П. А. Петровой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548640" y="1572768"/>
            <a:ext cx="3108960" cy="1737360"/>
          </a:xfrm>
          <a:prstGeom prst="roundRect">
            <a:avLst>
              <a:gd name="adj" fmla="val 7368"/>
            </a:avLst>
          </a:prstGeom>
          <a:solidFill>
            <a:srgbClr val="F8F3EA"/>
          </a:solidFill>
          <a:ln w="9525">
            <a:solidFill>
              <a:srgbClr val="F8F3EA"/>
            </a:solidFill>
            <a:prstDash val="solid"/>
          </a:ln>
          <a:effectLst>
            <a:outerShdw sx="100000" sy="100000" kx="0" ky="0" algn="bl" rotWithShape="0" blurRad="127000" dist="38100" dir="5400000">
              <a:srgbClr val="0B3B39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926080" y="1773936"/>
            <a:ext cx="475488" cy="4754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49707" y="1897563"/>
            <a:ext cx="228234" cy="228234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804672" y="173736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64C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1 000+*</a:t>
            </a:r>
            <a:endParaRPr lang="en-US" sz="3600" dirty="0"/>
          </a:p>
        </p:txBody>
      </p:sp>
      <p:sp>
        <p:nvSpPr>
          <p:cNvPr id="12" name="Text 9"/>
          <p:cNvSpPr txBox="1"/>
          <p:nvPr/>
        </p:nvSpPr>
        <p:spPr>
          <a:xfrm>
            <a:off x="804672" y="23957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рабочих мест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804672" y="2688336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F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сотрудники и специалисты по уходу в 3 регионах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3794760" y="1572768"/>
            <a:ext cx="3108960" cy="1737360"/>
          </a:xfrm>
          <a:prstGeom prst="roundRect">
            <a:avLst>
              <a:gd name="adj" fmla="val 7368"/>
            </a:avLst>
          </a:prstGeom>
          <a:solidFill>
            <a:srgbClr val="F8F3EA"/>
          </a:solidFill>
          <a:ln w="9525">
            <a:solidFill>
              <a:srgbClr val="F8F3EA"/>
            </a:solidFill>
            <a:prstDash val="solid"/>
          </a:ln>
          <a:effectLst>
            <a:outerShdw sx="100000" sy="100000" kx="0" ky="0" algn="bl" rotWithShape="0" blurRad="127000" dist="38100" dir="5400000">
              <a:srgbClr val="0B3B39">
                <a:alpha val="8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172200" y="1773936"/>
            <a:ext cx="475488" cy="4754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95827" y="1897563"/>
            <a:ext cx="228234" cy="228234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4050792" y="173736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64C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200+*</a:t>
            </a:r>
            <a:endParaRPr lang="en-US" sz="3600" dirty="0"/>
          </a:p>
        </p:txBody>
      </p:sp>
      <p:sp>
        <p:nvSpPr>
          <p:cNvPr id="18" name="Text 14"/>
          <p:cNvSpPr txBox="1"/>
          <p:nvPr/>
        </p:nvSpPr>
        <p:spPr>
          <a:xfrm>
            <a:off x="4050792" y="23957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родственников работают</a:t>
            </a:r>
            <a:endParaRPr lang="en-US" sz="1400" dirty="0"/>
          </a:p>
        </p:txBody>
      </p:sp>
      <p:sp>
        <p:nvSpPr>
          <p:cNvPr id="19" name="Text 15"/>
          <p:cNvSpPr txBox="1"/>
          <p:nvPr/>
        </p:nvSpPr>
        <p:spPr>
          <a:xfrm>
            <a:off x="4050792" y="2688336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F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им не пришлось уходить с работы, чтобы ухаживать</a:t>
            </a:r>
            <a:endParaRPr lang="en-US" sz="1150" dirty="0"/>
          </a:p>
        </p:txBody>
      </p:sp>
      <p:sp>
        <p:nvSpPr>
          <p:cNvPr id="20" name="Shape 16"/>
          <p:cNvSpPr/>
          <p:nvPr/>
        </p:nvSpPr>
        <p:spPr>
          <a:xfrm>
            <a:off x="548640" y="3447288"/>
            <a:ext cx="3108960" cy="1737360"/>
          </a:xfrm>
          <a:prstGeom prst="roundRect">
            <a:avLst>
              <a:gd name="adj" fmla="val 7368"/>
            </a:avLst>
          </a:prstGeom>
          <a:solidFill>
            <a:srgbClr val="F8F3EA"/>
          </a:solidFill>
          <a:ln w="9525">
            <a:solidFill>
              <a:srgbClr val="F8F3EA"/>
            </a:solidFill>
            <a:prstDash val="solid"/>
          </a:ln>
          <a:effectLst>
            <a:outerShdw sx="100000" sy="100000" kx="0" ky="0" algn="bl" rotWithShape="0" blurRad="127000" dist="38100" dir="5400000">
              <a:srgbClr val="0B3B39">
                <a:alpha val="8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2926080" y="3648456"/>
            <a:ext cx="475488" cy="4754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9707" y="3772083"/>
            <a:ext cx="228234" cy="228234"/>
          </a:xfrm>
          <a:prstGeom prst="rect">
            <a:avLst/>
          </a:prstGeom>
        </p:spPr>
      </p:pic>
      <p:sp>
        <p:nvSpPr>
          <p:cNvPr id="23" name="Text 18"/>
          <p:cNvSpPr txBox="1"/>
          <p:nvPr/>
        </p:nvSpPr>
        <p:spPr>
          <a:xfrm>
            <a:off x="804672" y="361188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64C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23*</a:t>
            </a:r>
            <a:endParaRPr lang="en-US" sz="3600" dirty="0"/>
          </a:p>
        </p:txBody>
      </p:sp>
      <p:sp>
        <p:nvSpPr>
          <p:cNvPr id="24" name="Text 19"/>
          <p:cNvSpPr txBox="1"/>
          <p:nvPr/>
        </p:nvSpPr>
        <p:spPr>
          <a:xfrm>
            <a:off x="804672" y="427024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муниципальных района</a:t>
            </a:r>
            <a:endParaRPr lang="en-US" sz="1400" dirty="0"/>
          </a:p>
        </p:txBody>
      </p:sp>
      <p:sp>
        <p:nvSpPr>
          <p:cNvPr id="25" name="Text 20"/>
          <p:cNvSpPr txBox="1"/>
          <p:nvPr/>
        </p:nvSpPr>
        <p:spPr>
          <a:xfrm>
            <a:off x="804672" y="4562856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F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помощь рядом с домом в 3 регионах</a:t>
            </a:r>
            <a:endParaRPr lang="en-US" sz="1150" dirty="0"/>
          </a:p>
        </p:txBody>
      </p:sp>
      <p:sp>
        <p:nvSpPr>
          <p:cNvPr id="26" name="Shape 21"/>
          <p:cNvSpPr/>
          <p:nvPr/>
        </p:nvSpPr>
        <p:spPr>
          <a:xfrm>
            <a:off x="3794760" y="3447288"/>
            <a:ext cx="3108960" cy="1737360"/>
          </a:xfrm>
          <a:prstGeom prst="roundRect">
            <a:avLst>
              <a:gd name="adj" fmla="val 7368"/>
            </a:avLst>
          </a:prstGeom>
          <a:solidFill>
            <a:srgbClr val="F8F3EA"/>
          </a:solidFill>
          <a:ln w="9525">
            <a:solidFill>
              <a:srgbClr val="F8F3EA"/>
            </a:solidFill>
            <a:prstDash val="solid"/>
          </a:ln>
          <a:effectLst>
            <a:outerShdw sx="100000" sy="100000" kx="0" ky="0" algn="bl" rotWithShape="0" blurRad="127000" dist="38100" dir="5400000">
              <a:srgbClr val="0B3B39">
                <a:alpha val="8000"/>
              </a:srgbClr>
            </a:outerShdw>
          </a:effectLst>
        </p:spPr>
      </p:sp>
      <p:sp>
        <p:nvSpPr>
          <p:cNvPr id="27" name="Shape 22"/>
          <p:cNvSpPr/>
          <p:nvPr/>
        </p:nvSpPr>
        <p:spPr>
          <a:xfrm>
            <a:off x="6172200" y="3648456"/>
            <a:ext cx="475488" cy="4754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95827" y="3772083"/>
            <a:ext cx="228234" cy="228234"/>
          </a:xfrm>
          <a:prstGeom prst="rect">
            <a:avLst/>
          </a:prstGeom>
        </p:spPr>
      </p:pic>
      <p:sp>
        <p:nvSpPr>
          <p:cNvPr id="29" name="Text 23"/>
          <p:cNvSpPr txBox="1"/>
          <p:nvPr/>
        </p:nvSpPr>
        <p:spPr>
          <a:xfrm>
            <a:off x="4050792" y="361188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64C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955*</a:t>
            </a:r>
            <a:endParaRPr lang="en-US" sz="3600" dirty="0"/>
          </a:p>
        </p:txBody>
      </p:sp>
      <p:sp>
        <p:nvSpPr>
          <p:cNvPr id="30" name="Text 24"/>
          <p:cNvSpPr txBox="1"/>
          <p:nvPr/>
        </p:nvSpPr>
        <p:spPr>
          <a:xfrm>
            <a:off x="4050792" y="427024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человек ежедневно</a:t>
            </a:r>
            <a:endParaRPr lang="en-US" sz="1400" dirty="0"/>
          </a:p>
        </p:txBody>
      </p:sp>
      <p:sp>
        <p:nvSpPr>
          <p:cNvPr id="31" name="Text 25"/>
          <p:cNvSpPr txBox="1"/>
          <p:nvPr/>
        </p:nvSpPr>
        <p:spPr>
          <a:xfrm>
            <a:off x="4050792" y="4562856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F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сохраняют самостоятельность дома и в пансионате</a:t>
            </a:r>
            <a:endParaRPr lang="en-US" sz="1150" dirty="0"/>
          </a:p>
        </p:txBody>
      </p:sp>
      <p:sp>
        <p:nvSpPr>
          <p:cNvPr id="32" name="Text 26"/>
          <p:cNvSpPr txBox="1"/>
          <p:nvPr/>
        </p:nvSpPr>
        <p:spPr>
          <a:xfrm>
            <a:off x="548640" y="5440680"/>
            <a:ext cx="6355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0E6B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Снижаем нагрузку на социальные и медицинские службы и предупреждаем осложнения у подопечных</a:t>
            </a:r>
            <a:endParaRPr lang="en-US" sz="1300" dirty="0"/>
          </a:p>
        </p:txBody>
      </p:sp>
      <p:sp>
        <p:nvSpPr>
          <p:cNvPr id="33" name="Shape 27"/>
          <p:cNvSpPr/>
          <p:nvPr/>
        </p:nvSpPr>
        <p:spPr>
          <a:xfrm>
            <a:off x="7223760" y="1572768"/>
            <a:ext cx="4416552" cy="4709160"/>
          </a:xfrm>
          <a:prstGeom prst="roundRect">
            <a:avLst>
              <a:gd name="adj" fmla="val 2899"/>
            </a:avLst>
          </a:prstGeom>
          <a:solidFill>
            <a:srgbClr val="064C49"/>
          </a:solidFill>
          <a:ln w="12700">
            <a:solidFill>
              <a:srgbClr val="064C49"/>
            </a:solidFill>
            <a:prstDash val="solid"/>
          </a:ln>
        </p:spPr>
      </p:sp>
      <p:sp>
        <p:nvSpPr>
          <p:cNvPr id="34" name="Text 28"/>
          <p:cNvSpPr txBox="1"/>
          <p:nvPr/>
        </p:nvSpPr>
        <p:spPr>
          <a:xfrm>
            <a:off x="7498080" y="1755648"/>
            <a:ext cx="38679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0B4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Благотворительные инициативы</a:t>
            </a:r>
            <a:endParaRPr lang="en-US" sz="1500" dirty="0"/>
          </a:p>
        </p:txBody>
      </p:sp>
      <p:sp>
        <p:nvSpPr>
          <p:cNvPr id="35" name="Text 29"/>
          <p:cNvSpPr txBox="1"/>
          <p:nvPr/>
        </p:nvSpPr>
        <p:spPr>
          <a:xfrm>
            <a:off x="7498080" y="2148840"/>
            <a:ext cx="3867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CC7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Проекты Фонда президентских грантов</a:t>
            </a:r>
            <a:endParaRPr lang="en-US" sz="1200" dirty="0"/>
          </a:p>
        </p:txBody>
      </p:sp>
      <p:sp>
        <p:nvSpPr>
          <p:cNvPr id="36" name="Shape 30"/>
          <p:cNvSpPr/>
          <p:nvPr/>
        </p:nvSpPr>
        <p:spPr>
          <a:xfrm>
            <a:off x="7498080" y="2468880"/>
            <a:ext cx="1865376" cy="548640"/>
          </a:xfrm>
          <a:prstGeom prst="roundRect">
            <a:avLst>
              <a:gd name="adj" fmla="val 16667"/>
            </a:avLst>
          </a:prstGeom>
          <a:solidFill>
            <a:srgbClr val="0E6B65"/>
          </a:solidFill>
          <a:ln w="12700">
            <a:solidFill>
              <a:srgbClr val="F0B47C"/>
            </a:solidFill>
            <a:prstDash val="solid"/>
          </a:ln>
        </p:spPr>
      </p:sp>
      <p:sp>
        <p:nvSpPr>
          <p:cNvPr id="37" name="Text 31"/>
          <p:cNvSpPr txBox="1"/>
          <p:nvPr/>
        </p:nvSpPr>
        <p:spPr>
          <a:xfrm>
            <a:off x="7498080" y="2468880"/>
            <a:ext cx="18653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 Деменция</a:t>
            </a:r>
            <a:endParaRPr lang="en-US" sz="1200" dirty="0"/>
          </a:p>
        </p:txBody>
      </p:sp>
      <p:sp>
        <p:nvSpPr>
          <p:cNvPr id="38" name="Shape 32"/>
          <p:cNvSpPr/>
          <p:nvPr/>
        </p:nvSpPr>
        <p:spPr>
          <a:xfrm>
            <a:off x="9500616" y="2468880"/>
            <a:ext cx="1865376" cy="548640"/>
          </a:xfrm>
          <a:prstGeom prst="roundRect">
            <a:avLst>
              <a:gd name="adj" fmla="val 16667"/>
            </a:avLst>
          </a:prstGeom>
          <a:solidFill>
            <a:srgbClr val="0E6B65"/>
          </a:solidFill>
          <a:ln w="12700">
            <a:solidFill>
              <a:srgbClr val="F0B47C"/>
            </a:solidFill>
            <a:prstDash val="solid"/>
          </a:ln>
        </p:spPr>
      </p:sp>
      <p:sp>
        <p:nvSpPr>
          <p:cNvPr id="39" name="Text 33"/>
          <p:cNvSpPr txBox="1"/>
          <p:nvPr/>
        </p:nvSpPr>
        <p:spPr>
          <a:xfrm>
            <a:off x="9500616" y="2468880"/>
            <a:ext cx="18653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Бесплатная перевозка</a:t>
            </a:r>
            <a:endParaRPr lang="en-US" sz="1200" dirty="0"/>
          </a:p>
        </p:txBody>
      </p:sp>
      <p:pic>
        <p:nvPicPr>
          <p:cNvPr id="4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98080" y="3401568"/>
            <a:ext cx="384048" cy="384048"/>
          </a:xfrm>
          <a:prstGeom prst="rect">
            <a:avLst/>
          </a:prstGeom>
        </p:spPr>
      </p:pic>
      <p:sp>
        <p:nvSpPr>
          <p:cNvPr id="41" name="Text 34"/>
          <p:cNvSpPr txBox="1"/>
          <p:nvPr/>
        </p:nvSpPr>
        <p:spPr>
          <a:xfrm>
            <a:off x="8001000" y="3246120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300+*</a:t>
            </a:r>
            <a:endParaRPr lang="en-US" sz="3600" dirty="0"/>
          </a:p>
        </p:txBody>
      </p:sp>
      <p:sp>
        <p:nvSpPr>
          <p:cNvPr id="42" name="Text 35"/>
          <p:cNvSpPr txBox="1"/>
          <p:nvPr/>
        </p:nvSpPr>
        <p:spPr>
          <a:xfrm>
            <a:off x="9464040" y="3273552"/>
            <a:ext cx="1947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AF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волонтёров проводят праздники и акции для подопечных</a:t>
            </a:r>
            <a:endParaRPr lang="en-US" sz="1200" dirty="0"/>
          </a:p>
        </p:txBody>
      </p:sp>
      <p:pic>
        <p:nvPicPr>
          <p:cNvPr id="4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98080" y="4224528"/>
            <a:ext cx="274320" cy="274320"/>
          </a:xfrm>
          <a:prstGeom prst="rect">
            <a:avLst/>
          </a:prstGeom>
        </p:spPr>
      </p:pic>
      <p:sp>
        <p:nvSpPr>
          <p:cNvPr id="44" name="Text 36"/>
          <p:cNvSpPr txBox="1"/>
          <p:nvPr/>
        </p:nvSpPr>
        <p:spPr>
          <a:xfrm>
            <a:off x="7882128" y="42245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B4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Каждый год</a:t>
            </a:r>
            <a:endParaRPr lang="en-US" sz="1200" dirty="0"/>
          </a:p>
        </p:txBody>
      </p:sp>
      <p:sp>
        <p:nvSpPr>
          <p:cNvPr id="45" name="Text 37"/>
          <p:cNvSpPr txBox="1"/>
          <p:nvPr/>
        </p:nvSpPr>
        <p:spPr>
          <a:xfrm>
            <a:off x="7498080" y="4572000"/>
            <a:ext cx="38679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AF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День пожилого человека · 23 Февраля · 8 Марта · Неделя инвалидов</a:t>
            </a:r>
            <a:endParaRPr lang="en-US" sz="1200" dirty="0"/>
          </a:p>
        </p:txBody>
      </p:sp>
      <p:sp>
        <p:nvSpPr>
          <p:cNvPr id="46" name="Text 38"/>
          <p:cNvSpPr txBox="1"/>
          <p:nvPr/>
        </p:nvSpPr>
        <p:spPr>
          <a:xfrm>
            <a:off x="7498080" y="5285232"/>
            <a:ext cx="38679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Вокруг подопечных складывается сообщество заботы — семьи, волонтёры, специалисты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565392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Всероссийская премия «Молодой предприниматель России»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0543032" y="6565392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/ 07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384048"/>
            <a:ext cx="1490472" cy="310896"/>
          </a:xfrm>
          <a:prstGeom prst="roundRect">
            <a:avLst>
              <a:gd name="adj" fmla="val 50000"/>
            </a:avLst>
          </a:prstGeom>
          <a:solidFill>
            <a:srgbClr val="DDEEEB"/>
          </a:solidFill>
          <a:ln w="12700">
            <a:solidFill>
              <a:srgbClr val="DDEEE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384048"/>
            <a:ext cx="1490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6B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 ·  О команде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786384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64C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Команда, которая построила систему ухода в 3 регионах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355080"/>
            <a:ext cx="11091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i="1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Показатели группы «Содействие» (АНО ЦСП, АНО ЦСО, АНО РЦСП, АНО ПЦСП «Содействие», ИП Петрова П. А.) — единая система долговременного ухода, созданная под руководством П. А. Петровой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548640" y="1572768"/>
            <a:ext cx="3584448" cy="2057400"/>
          </a:xfrm>
          <a:prstGeom prst="roundRect">
            <a:avLst>
              <a:gd name="adj" fmla="val 6222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38100" dir="5400000">
              <a:srgbClr val="0B3B39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49808" y="1801368"/>
            <a:ext cx="1188720" cy="1188720"/>
          </a:xfrm>
          <a:prstGeom prst="ellipse">
            <a:avLst/>
          </a:prstGeom>
          <a:solidFill>
            <a:srgbClr val="F0B47C"/>
          </a:solidFill>
          <a:ln w="12700">
            <a:solidFill>
              <a:srgbClr val="F0B47C"/>
            </a:solidFill>
            <a:prstDash val="solid"/>
          </a:ln>
        </p:spPr>
      </p:sp>
      <p:pic>
        <p:nvPicPr>
          <p:cNvPr id="10" name="Image 0" descr="img/c_team5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5528" y="1847088"/>
            <a:ext cx="1097280" cy="1097280"/>
          </a:xfrm>
          <a:prstGeom prst="ellipse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2103120" y="1865376"/>
            <a:ext cx="844906" cy="256032"/>
          </a:xfrm>
          <a:prstGeom prst="roundRect">
            <a:avLst>
              <a:gd name="adj" fmla="val 50000"/>
            </a:avLst>
          </a:prstGeom>
          <a:solidFill>
            <a:srgbClr val="DDEEEB"/>
          </a:solidFill>
          <a:ln w="12700">
            <a:solidFill>
              <a:srgbClr val="DDEEEB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2103120" y="1865376"/>
            <a:ext cx="84490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E6B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Директор</a:t>
            </a:r>
            <a:endParaRPr lang="en-US" sz="950" dirty="0"/>
          </a:p>
        </p:txBody>
      </p:sp>
      <p:sp>
        <p:nvSpPr>
          <p:cNvPr id="13" name="Text 10"/>
          <p:cNvSpPr txBox="1"/>
          <p:nvPr/>
        </p:nvSpPr>
        <p:spPr>
          <a:xfrm>
            <a:off x="2103120" y="2231136"/>
            <a:ext cx="1874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64C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Петрова Полина Александровна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777240" y="3035808"/>
            <a:ext cx="31729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F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Стратегия и масштабирование, система долговременного ухода, работа с государством, новые направления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4279392" y="1572768"/>
            <a:ext cx="3584448" cy="2057400"/>
          </a:xfrm>
          <a:prstGeom prst="roundRect">
            <a:avLst>
              <a:gd name="adj" fmla="val 6222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38100" dir="5400000">
              <a:srgbClr val="0B3B39">
                <a:alpha val="8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4480560" y="1801368"/>
            <a:ext cx="1188720" cy="1188720"/>
          </a:xfrm>
          <a:prstGeom prst="ellipse">
            <a:avLst/>
          </a:prstGeom>
          <a:solidFill>
            <a:srgbClr val="F0B47C"/>
          </a:solidFill>
          <a:ln w="12700">
            <a:solidFill>
              <a:srgbClr val="F0B47C"/>
            </a:solidFill>
            <a:prstDash val="solid"/>
          </a:ln>
        </p:spPr>
      </p:sp>
      <p:pic>
        <p:nvPicPr>
          <p:cNvPr id="17" name="Image 1" descr="img/c_team10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6280" y="1847088"/>
            <a:ext cx="1097280" cy="1097280"/>
          </a:xfrm>
          <a:prstGeom prst="ellipse">
            <a:avLst/>
          </a:prstGeom>
        </p:spPr>
      </p:pic>
      <p:sp>
        <p:nvSpPr>
          <p:cNvPr id="18" name="Shape 14"/>
          <p:cNvSpPr/>
          <p:nvPr/>
        </p:nvSpPr>
        <p:spPr>
          <a:xfrm>
            <a:off x="5833872" y="1865376"/>
            <a:ext cx="1486814" cy="256032"/>
          </a:xfrm>
          <a:prstGeom prst="roundRect">
            <a:avLst>
              <a:gd name="adj" fmla="val 50000"/>
            </a:avLst>
          </a:prstGeom>
          <a:solidFill>
            <a:srgbClr val="DDEEEB"/>
          </a:solidFill>
          <a:ln w="12700">
            <a:solidFill>
              <a:srgbClr val="DDEEEB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5833872" y="1865376"/>
            <a:ext cx="148681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E6B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Главный бухгалтер</a:t>
            </a:r>
            <a:endParaRPr lang="en-US" sz="950" dirty="0"/>
          </a:p>
        </p:txBody>
      </p:sp>
      <p:sp>
        <p:nvSpPr>
          <p:cNvPr id="20" name="Text 16"/>
          <p:cNvSpPr txBox="1"/>
          <p:nvPr/>
        </p:nvSpPr>
        <p:spPr>
          <a:xfrm>
            <a:off x="5833872" y="2231136"/>
            <a:ext cx="1874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64C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Алёна Минькина</a:t>
            </a:r>
            <a:endParaRPr lang="en-US" sz="1400" dirty="0"/>
          </a:p>
        </p:txBody>
      </p:sp>
      <p:sp>
        <p:nvSpPr>
          <p:cNvPr id="21" name="Text 17"/>
          <p:cNvSpPr txBox="1"/>
          <p:nvPr/>
        </p:nvSpPr>
        <p:spPr>
          <a:xfrm>
            <a:off x="4507992" y="3035808"/>
            <a:ext cx="31729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F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Финансы и бюджет, управленческий учёт, сопровождение госсубсидий, экономическая устойчивость</a:t>
            </a:r>
            <a:endParaRPr lang="en-US" sz="1050" dirty="0"/>
          </a:p>
        </p:txBody>
      </p:sp>
      <p:sp>
        <p:nvSpPr>
          <p:cNvPr id="22" name="Shape 18"/>
          <p:cNvSpPr/>
          <p:nvPr/>
        </p:nvSpPr>
        <p:spPr>
          <a:xfrm>
            <a:off x="8010144" y="1572768"/>
            <a:ext cx="3584448" cy="2057400"/>
          </a:xfrm>
          <a:prstGeom prst="roundRect">
            <a:avLst>
              <a:gd name="adj" fmla="val 6222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38100" dir="5400000">
              <a:srgbClr val="0B3B39">
                <a:alpha val="8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8211312" y="1801368"/>
            <a:ext cx="1188720" cy="1188720"/>
          </a:xfrm>
          <a:prstGeom prst="ellipse">
            <a:avLst/>
          </a:prstGeom>
          <a:solidFill>
            <a:srgbClr val="F0B47C"/>
          </a:solidFill>
          <a:ln w="12700">
            <a:solidFill>
              <a:srgbClr val="F0B47C"/>
            </a:solidFill>
            <a:prstDash val="solid"/>
          </a:ln>
        </p:spPr>
      </p:sp>
      <p:pic>
        <p:nvPicPr>
          <p:cNvPr id="24" name="Image 2" descr="img/c_team15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7032" y="1847088"/>
            <a:ext cx="1097280" cy="1097280"/>
          </a:xfrm>
          <a:prstGeom prst="ellipse">
            <a:avLst/>
          </a:prstGeom>
        </p:spPr>
      </p:pic>
      <p:sp>
        <p:nvSpPr>
          <p:cNvPr id="25" name="Shape 20"/>
          <p:cNvSpPr/>
          <p:nvPr/>
        </p:nvSpPr>
        <p:spPr>
          <a:xfrm>
            <a:off x="9564624" y="1865376"/>
            <a:ext cx="1772107" cy="256032"/>
          </a:xfrm>
          <a:prstGeom prst="roundRect">
            <a:avLst>
              <a:gd name="adj" fmla="val 50000"/>
            </a:avLst>
          </a:prstGeom>
          <a:solidFill>
            <a:srgbClr val="DDEEEB"/>
          </a:solidFill>
          <a:ln w="12700">
            <a:solidFill>
              <a:srgbClr val="DDEEEB"/>
            </a:solidFill>
            <a:prstDash val="solid"/>
          </a:ln>
        </p:spPr>
      </p:sp>
      <p:sp>
        <p:nvSpPr>
          <p:cNvPr id="26" name="Text 21"/>
          <p:cNvSpPr txBox="1"/>
          <p:nvPr/>
        </p:nvSpPr>
        <p:spPr>
          <a:xfrm>
            <a:off x="9564624" y="1865376"/>
            <a:ext cx="1772107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E6B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Заместитель директора</a:t>
            </a:r>
            <a:endParaRPr lang="en-US" sz="950" dirty="0"/>
          </a:p>
        </p:txBody>
      </p:sp>
      <p:sp>
        <p:nvSpPr>
          <p:cNvPr id="27" name="Text 22"/>
          <p:cNvSpPr txBox="1"/>
          <p:nvPr/>
        </p:nvSpPr>
        <p:spPr>
          <a:xfrm>
            <a:off x="9564624" y="2231136"/>
            <a:ext cx="1874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64C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Эндже Латыпова</a:t>
            </a:r>
            <a:endParaRPr lang="en-US" sz="1400" dirty="0"/>
          </a:p>
        </p:txBody>
      </p:sp>
      <p:sp>
        <p:nvSpPr>
          <p:cNvPr id="28" name="Text 23"/>
          <p:cNvSpPr txBox="1"/>
          <p:nvPr/>
        </p:nvSpPr>
        <p:spPr>
          <a:xfrm>
            <a:off x="8238744" y="3035808"/>
            <a:ext cx="31729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F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Бизнес-процессы, координация подразделений, контроль задач, стабильная работа команды</a:t>
            </a:r>
            <a:endParaRPr lang="en-US" sz="1050" dirty="0"/>
          </a:p>
        </p:txBody>
      </p:sp>
      <p:sp>
        <p:nvSpPr>
          <p:cNvPr id="29" name="Shape 24"/>
          <p:cNvSpPr/>
          <p:nvPr/>
        </p:nvSpPr>
        <p:spPr>
          <a:xfrm>
            <a:off x="548640" y="3776472"/>
            <a:ext cx="3584448" cy="2057400"/>
          </a:xfrm>
          <a:prstGeom prst="roundRect">
            <a:avLst>
              <a:gd name="adj" fmla="val 6222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38100" dir="5400000">
              <a:srgbClr val="0B3B39">
                <a:alpha val="8000"/>
              </a:srgbClr>
            </a:outerShdw>
          </a:effectLst>
        </p:spPr>
      </p:sp>
      <p:sp>
        <p:nvSpPr>
          <p:cNvPr id="30" name="Shape 25"/>
          <p:cNvSpPr/>
          <p:nvPr/>
        </p:nvSpPr>
        <p:spPr>
          <a:xfrm>
            <a:off x="749808" y="4005072"/>
            <a:ext cx="1188720" cy="1188720"/>
          </a:xfrm>
          <a:prstGeom prst="ellipse">
            <a:avLst/>
          </a:prstGeom>
          <a:solidFill>
            <a:srgbClr val="F0B47C"/>
          </a:solidFill>
          <a:ln w="12700">
            <a:solidFill>
              <a:srgbClr val="F0B47C"/>
            </a:solidFill>
            <a:prstDash val="solid"/>
          </a:ln>
        </p:spPr>
      </p:sp>
      <p:pic>
        <p:nvPicPr>
          <p:cNvPr id="31" name="Image 3" descr="img/c_team20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5528" y="4050792"/>
            <a:ext cx="1097280" cy="1097280"/>
          </a:xfrm>
          <a:prstGeom prst="ellipse">
            <a:avLst/>
          </a:prstGeom>
        </p:spPr>
      </p:pic>
      <p:sp>
        <p:nvSpPr>
          <p:cNvPr id="32" name="Shape 26"/>
          <p:cNvSpPr/>
          <p:nvPr/>
        </p:nvSpPr>
        <p:spPr>
          <a:xfrm>
            <a:off x="2103120" y="4069080"/>
            <a:ext cx="1772107" cy="256032"/>
          </a:xfrm>
          <a:prstGeom prst="roundRect">
            <a:avLst>
              <a:gd name="adj" fmla="val 50000"/>
            </a:avLst>
          </a:prstGeom>
          <a:solidFill>
            <a:srgbClr val="DDEEEB"/>
          </a:solidFill>
          <a:ln w="12700">
            <a:solidFill>
              <a:srgbClr val="DDEEEB"/>
            </a:solidFill>
            <a:prstDash val="solid"/>
          </a:ln>
        </p:spPr>
      </p:sp>
      <p:sp>
        <p:nvSpPr>
          <p:cNvPr id="33" name="Text 27"/>
          <p:cNvSpPr txBox="1"/>
          <p:nvPr/>
        </p:nvSpPr>
        <p:spPr>
          <a:xfrm>
            <a:off x="2103120" y="4069080"/>
            <a:ext cx="1772107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E6B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Заместитель директора</a:t>
            </a:r>
            <a:endParaRPr lang="en-US" sz="950" dirty="0"/>
          </a:p>
        </p:txBody>
      </p:sp>
      <p:sp>
        <p:nvSpPr>
          <p:cNvPr id="34" name="Text 28"/>
          <p:cNvSpPr txBox="1"/>
          <p:nvPr/>
        </p:nvSpPr>
        <p:spPr>
          <a:xfrm>
            <a:off x="2103120" y="4434840"/>
            <a:ext cx="1874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64C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Айгуль Хасамутдинова</a:t>
            </a:r>
            <a:endParaRPr lang="en-US" sz="1400" dirty="0"/>
          </a:p>
        </p:txBody>
      </p:sp>
      <p:sp>
        <p:nvSpPr>
          <p:cNvPr id="35" name="Text 29"/>
          <p:cNvSpPr txBox="1"/>
          <p:nvPr/>
        </p:nvSpPr>
        <p:spPr>
          <a:xfrm>
            <a:off x="777240" y="5239512"/>
            <a:ext cx="31729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F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Управление пансионатами, стационарный уход, персонал, контроль качества и стандартов</a:t>
            </a:r>
            <a:endParaRPr lang="en-US" sz="1050" dirty="0"/>
          </a:p>
        </p:txBody>
      </p:sp>
      <p:sp>
        <p:nvSpPr>
          <p:cNvPr id="36" name="Shape 30"/>
          <p:cNvSpPr/>
          <p:nvPr/>
        </p:nvSpPr>
        <p:spPr>
          <a:xfrm>
            <a:off x="4279392" y="3776472"/>
            <a:ext cx="3584448" cy="2057400"/>
          </a:xfrm>
          <a:prstGeom prst="roundRect">
            <a:avLst>
              <a:gd name="adj" fmla="val 6222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38100" dir="5400000">
              <a:srgbClr val="0B3B39">
                <a:alpha val="8000"/>
              </a:srgbClr>
            </a:outerShdw>
          </a:effectLst>
        </p:spPr>
      </p:sp>
      <p:sp>
        <p:nvSpPr>
          <p:cNvPr id="37" name="Shape 31"/>
          <p:cNvSpPr/>
          <p:nvPr/>
        </p:nvSpPr>
        <p:spPr>
          <a:xfrm>
            <a:off x="4480560" y="4005072"/>
            <a:ext cx="1188720" cy="1188720"/>
          </a:xfrm>
          <a:prstGeom prst="ellipse">
            <a:avLst/>
          </a:prstGeom>
          <a:solidFill>
            <a:srgbClr val="F0B47C"/>
          </a:solidFill>
          <a:ln w="12700">
            <a:solidFill>
              <a:srgbClr val="F0B47C"/>
            </a:solidFill>
            <a:prstDash val="solid"/>
          </a:ln>
        </p:spPr>
      </p:sp>
      <p:pic>
        <p:nvPicPr>
          <p:cNvPr id="38" name="Image 4" descr="img/c_team25.jp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26280" y="4050792"/>
            <a:ext cx="1097280" cy="1097280"/>
          </a:xfrm>
          <a:prstGeom prst="ellipse">
            <a:avLst/>
          </a:prstGeom>
        </p:spPr>
      </p:pic>
      <p:sp>
        <p:nvSpPr>
          <p:cNvPr id="39" name="Shape 32"/>
          <p:cNvSpPr/>
          <p:nvPr/>
        </p:nvSpPr>
        <p:spPr>
          <a:xfrm>
            <a:off x="5833872" y="4069080"/>
            <a:ext cx="1058875" cy="256032"/>
          </a:xfrm>
          <a:prstGeom prst="roundRect">
            <a:avLst>
              <a:gd name="adj" fmla="val 50000"/>
            </a:avLst>
          </a:prstGeom>
          <a:solidFill>
            <a:srgbClr val="DDEEEB"/>
          </a:solidFill>
          <a:ln w="12700">
            <a:solidFill>
              <a:srgbClr val="DDEEEB"/>
            </a:solidFill>
            <a:prstDash val="solid"/>
          </a:ln>
        </p:spPr>
      </p:sp>
      <p:sp>
        <p:nvSpPr>
          <p:cNvPr id="40" name="Text 33"/>
          <p:cNvSpPr txBox="1"/>
          <p:nvPr/>
        </p:nvSpPr>
        <p:spPr>
          <a:xfrm>
            <a:off x="5833872" y="4069080"/>
            <a:ext cx="105887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E6B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IT-продукты</a:t>
            </a:r>
            <a:endParaRPr lang="en-US" sz="950" dirty="0"/>
          </a:p>
        </p:txBody>
      </p:sp>
      <p:sp>
        <p:nvSpPr>
          <p:cNvPr id="41" name="Text 34"/>
          <p:cNvSpPr txBox="1"/>
          <p:nvPr/>
        </p:nvSpPr>
        <p:spPr>
          <a:xfrm>
            <a:off x="5833872" y="4434840"/>
            <a:ext cx="1874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64C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Айрат Сагдеев</a:t>
            </a:r>
            <a:endParaRPr lang="en-US" sz="1400" dirty="0"/>
          </a:p>
        </p:txBody>
      </p:sp>
      <p:sp>
        <p:nvSpPr>
          <p:cNvPr id="42" name="Text 35"/>
          <p:cNvSpPr txBox="1"/>
          <p:nvPr/>
        </p:nvSpPr>
        <p:spPr>
          <a:xfrm>
            <a:off x="4507992" y="5239512"/>
            <a:ext cx="31729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F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IT-продукты, разработка и продуктовая аналитика, Sidelka Online, цифровизация ухода</a:t>
            </a:r>
            <a:endParaRPr lang="en-US" sz="1050" dirty="0"/>
          </a:p>
        </p:txBody>
      </p:sp>
      <p:sp>
        <p:nvSpPr>
          <p:cNvPr id="43" name="Shape 36"/>
          <p:cNvSpPr/>
          <p:nvPr/>
        </p:nvSpPr>
        <p:spPr>
          <a:xfrm>
            <a:off x="8010144" y="3776472"/>
            <a:ext cx="3584448" cy="2057400"/>
          </a:xfrm>
          <a:prstGeom prst="roundRect">
            <a:avLst>
              <a:gd name="adj" fmla="val 6222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38100" dir="5400000">
              <a:srgbClr val="0B3B39">
                <a:alpha val="8000"/>
              </a:srgbClr>
            </a:outerShdw>
          </a:effectLst>
        </p:spPr>
      </p:sp>
      <p:sp>
        <p:nvSpPr>
          <p:cNvPr id="44" name="Shape 37"/>
          <p:cNvSpPr/>
          <p:nvPr/>
        </p:nvSpPr>
        <p:spPr>
          <a:xfrm>
            <a:off x="8211312" y="4005072"/>
            <a:ext cx="1188720" cy="1188720"/>
          </a:xfrm>
          <a:prstGeom prst="ellipse">
            <a:avLst/>
          </a:prstGeom>
          <a:solidFill>
            <a:srgbClr val="F0B47C"/>
          </a:solidFill>
          <a:ln w="12700">
            <a:solidFill>
              <a:srgbClr val="F0B47C"/>
            </a:solidFill>
            <a:prstDash val="solid"/>
          </a:ln>
        </p:spPr>
      </p:sp>
      <p:pic>
        <p:nvPicPr>
          <p:cNvPr id="45" name="Image 5" descr="img/c_team30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57032" y="4050792"/>
            <a:ext cx="1097280" cy="1097280"/>
          </a:xfrm>
          <a:prstGeom prst="ellipse">
            <a:avLst/>
          </a:prstGeom>
        </p:spPr>
      </p:pic>
      <p:sp>
        <p:nvSpPr>
          <p:cNvPr id="46" name="Shape 38"/>
          <p:cNvSpPr/>
          <p:nvPr/>
        </p:nvSpPr>
        <p:spPr>
          <a:xfrm>
            <a:off x="9564624" y="4069080"/>
            <a:ext cx="844906" cy="256032"/>
          </a:xfrm>
          <a:prstGeom prst="roundRect">
            <a:avLst>
              <a:gd name="adj" fmla="val 50000"/>
            </a:avLst>
          </a:prstGeom>
          <a:solidFill>
            <a:srgbClr val="DDEEEB"/>
          </a:solidFill>
          <a:ln w="12700">
            <a:solidFill>
              <a:srgbClr val="DDEEEB"/>
            </a:solidFill>
            <a:prstDash val="solid"/>
          </a:ln>
        </p:spPr>
      </p:sp>
      <p:sp>
        <p:nvSpPr>
          <p:cNvPr id="47" name="Text 39"/>
          <p:cNvSpPr txBox="1"/>
          <p:nvPr/>
        </p:nvSpPr>
        <p:spPr>
          <a:xfrm>
            <a:off x="9564624" y="4069080"/>
            <a:ext cx="84490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E6B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Психолог</a:t>
            </a:r>
            <a:endParaRPr lang="en-US" sz="950" dirty="0"/>
          </a:p>
        </p:txBody>
      </p:sp>
      <p:sp>
        <p:nvSpPr>
          <p:cNvPr id="48" name="Text 40"/>
          <p:cNvSpPr txBox="1"/>
          <p:nvPr/>
        </p:nvSpPr>
        <p:spPr>
          <a:xfrm>
            <a:off x="9564624" y="4434840"/>
            <a:ext cx="1874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64C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Роза Закирова</a:t>
            </a:r>
            <a:endParaRPr lang="en-US" sz="1400" dirty="0"/>
          </a:p>
        </p:txBody>
      </p:sp>
      <p:sp>
        <p:nvSpPr>
          <p:cNvPr id="49" name="Text 41"/>
          <p:cNvSpPr txBox="1"/>
          <p:nvPr/>
        </p:nvSpPr>
        <p:spPr>
          <a:xfrm>
            <a:off x="8238744" y="5239512"/>
            <a:ext cx="31729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F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Психологическая поддержка подопечных и родственников, профилактика выгорания команды</a:t>
            </a:r>
            <a:endParaRPr lang="en-US" sz="1050" dirty="0"/>
          </a:p>
        </p:txBody>
      </p:sp>
      <p:sp>
        <p:nvSpPr>
          <p:cNvPr id="50" name="Text 42"/>
          <p:cNvSpPr txBox="1"/>
          <p:nvPr/>
        </p:nvSpPr>
        <p:spPr>
          <a:xfrm>
            <a:off x="548640" y="5943600"/>
            <a:ext cx="110916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98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1 000+* </a:t>
            </a:r>
            <a:pPr indent="0" marL="0">
              <a:buNone/>
            </a:pPr>
            <a:r>
              <a:rPr lang="en-US" sz="1400" dirty="0">
                <a:solidFill>
                  <a:srgbClr val="1E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специалистов и сотрудников системы ухода в 3 регионах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64C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565392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CC7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Всероссийская премия «Молодой предприниматель России»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0543032" y="6565392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9CC7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/ 07</a:t>
            </a:r>
            <a:endParaRPr lang="en-US" sz="9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005840"/>
            <a:ext cx="548640" cy="5486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1737360"/>
            <a:ext cx="69494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Достойная старость —</a:t>
            </a:r>
            <a:endParaRPr lang="en-US" sz="4600" dirty="0"/>
          </a:p>
          <a:p>
            <a:pPr indent="0" marL="0">
              <a:lnSpc>
                <a:spcPct val="92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 привилегия</a:t>
            </a:r>
            <a:endParaRPr lang="en-US" sz="46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3474720"/>
            <a:ext cx="6400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EAF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Следующий шаг — сделать качественный уход доступным в каждом городе. Sidelka Online поможет масштабировать то, что уже работает в трёх регионах.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498348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0B4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Спасибо!</a:t>
            </a:r>
            <a:endParaRPr lang="en-US" sz="3800" dirty="0"/>
          </a:p>
        </p:txBody>
      </p:sp>
      <p:sp>
        <p:nvSpPr>
          <p:cNvPr id="8" name="Shape 5"/>
          <p:cNvSpPr/>
          <p:nvPr/>
        </p:nvSpPr>
        <p:spPr>
          <a:xfrm>
            <a:off x="8183880" y="1188720"/>
            <a:ext cx="3017520" cy="3017520"/>
          </a:xfrm>
          <a:prstGeom prst="ellipse">
            <a:avLst/>
          </a:prstGeom>
          <a:solidFill>
            <a:srgbClr val="0E6B65"/>
          </a:solidFill>
          <a:ln w="12700">
            <a:solidFill>
              <a:srgbClr val="0E6B65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321040" y="1325880"/>
            <a:ext cx="2743200" cy="2743200"/>
          </a:xfrm>
          <a:prstGeom prst="ellipse">
            <a:avLst/>
          </a:prstGeom>
          <a:solidFill>
            <a:srgbClr val="F0B47C"/>
          </a:solidFill>
          <a:ln w="12700">
            <a:solidFill>
              <a:srgbClr val="F0B47C"/>
            </a:solidFill>
            <a:prstDash val="solid"/>
          </a:ln>
        </p:spPr>
      </p:sp>
      <p:pic>
        <p:nvPicPr>
          <p:cNvPr id="10" name="Image 1" descr="img/c_team5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0" y="1417320"/>
            <a:ext cx="2560320" cy="2560320"/>
          </a:xfrm>
          <a:prstGeom prst="ellipse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7680960" y="443484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Петрова Полина</a:t>
            </a:r>
            <a:endParaRPr lang="en-US" sz="2200" dirty="0"/>
          </a:p>
        </p:txBody>
      </p:sp>
      <p:sp>
        <p:nvSpPr>
          <p:cNvPr id="12" name="Text 8"/>
          <p:cNvSpPr txBox="1"/>
          <p:nvPr/>
        </p:nvSpPr>
        <p:spPr>
          <a:xfrm>
            <a:off x="7680960" y="4864608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CC7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Руководитель Центра «Содействие»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Центр «Содействие» — Петрова Полина</dc:title>
  <dc:subject>PptxGenJS Presentation</dc:subject>
  <dc:creator>PptxGenJS</dc:creator>
  <cp:lastModifiedBy>PptxGenJS</cp:lastModifiedBy>
  <cp:revision>1</cp:revision>
  <dcterms:created xsi:type="dcterms:W3CDTF">2026-09-29T12:25:48Z</dcterms:created>
  <dcterms:modified xsi:type="dcterms:W3CDTF">2026-09-29T12:25:48Z</dcterms:modified>
</cp:coreProperties>
</file>