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Подопечные</c:v>
                </c:pt>
              </c:strCache>
            </c:strRef>
          </c:tx>
          <c:spPr>
            <a:solidFill>
              <a:srgbClr val="DDEE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E2F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DEEE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E6B6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82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2019 (пилот)</c:v>
                  </c:pt>
                  <c:pt idx="1">
                    <c:v>2020</c:v>
                  </c:pt>
                  <c:pt idx="2">
                    <c:v>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198</c:v>
                </c:pt>
                <c:pt idx="1">
                  <c:v>544</c:v>
                </c:pt>
                <c:pt idx="2">
                  <c:v>955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E2F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6B7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image" Target="../media/image-4-6.png"/><Relationship Id="rId8" Type="http://schemas.openxmlformats.org/officeDocument/2006/relationships/image" Target="../media/image-4-7.png"/><Relationship Id="rId9" Type="http://schemas.openxmlformats.org/officeDocument/2006/relationships/image" Target="../media/image-4-8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image" Target="../media/image-6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4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polina_ful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pic>
        <p:nvPicPr>
          <p:cNvPr id="3" name="Image 1" descr="img/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0"/>
            <a:ext cx="237744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548640" y="548640"/>
            <a:ext cx="5257800" cy="365760"/>
          </a:xfrm>
          <a:prstGeom prst="roundRect">
            <a:avLst>
              <a:gd name="adj" fmla="val 50000"/>
            </a:avLst>
          </a:prstGeom>
          <a:solidFill>
            <a:srgbClr val="064C49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548640" y="54864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115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1234440"/>
            <a:ext cx="64008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Центр</a:t>
            </a:r>
            <a:endParaRPr lang="en-US" sz="5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«Содействие»</a:t>
            </a:r>
            <a:endParaRPr lang="en-US" sz="5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971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Экосистема достойного ухода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352044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Возвращаем человеку самостоятельность, а семье — возможность быть семьёй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36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лет в сфере ухода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2377440" y="4526280"/>
            <a:ext cx="0" cy="86868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56032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9"/>
          <p:cNvSpPr txBox="1"/>
          <p:nvPr/>
        </p:nvSpPr>
        <p:spPr>
          <a:xfrm>
            <a:off x="256032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региона, 23 района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4526280"/>
            <a:ext cx="0" cy="86868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572000" y="44805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</a:t>
            </a:r>
            <a:endParaRPr lang="en-US" sz="3600" dirty="0"/>
          </a:p>
        </p:txBody>
      </p:sp>
      <p:sp>
        <p:nvSpPr>
          <p:cNvPr id="16" name="Text 12"/>
          <p:cNvSpPr txBox="1"/>
          <p:nvPr/>
        </p:nvSpPr>
        <p:spPr>
          <a:xfrm>
            <a:off x="4572000" y="50474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подопечных ежедневно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7607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 Александровна</a:t>
            </a:r>
            <a:endParaRPr lang="en-US" sz="2000" dirty="0"/>
          </a:p>
        </p:txBody>
      </p:sp>
      <p:sp>
        <p:nvSpPr>
          <p:cNvPr id="18" name="Text 14"/>
          <p:cNvSpPr txBox="1"/>
          <p:nvPr/>
        </p:nvSpPr>
        <p:spPr>
          <a:xfrm>
            <a:off x="548640" y="614476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Центра «Содействие» · Республика Татарстан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4739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222199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2221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О бизнесе участника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лет: от личной боли к системе ухода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11091672" cy="1572768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280160" y="1938528"/>
            <a:ext cx="9628632" cy="0"/>
          </a:xfrm>
          <a:prstGeom prst="line">
            <a:avLst/>
          </a:prstGeom>
          <a:noFill/>
          <a:ln w="50800">
            <a:solidFill>
              <a:srgbClr val="DDEE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70432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Первый центр,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Владимир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545951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24159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924159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Выход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Татарстан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921470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99678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2018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299678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Пансионат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«Милосердие»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296989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75197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2019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675197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СДУ: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198 человек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672507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50715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2020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6050715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544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подопечных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048026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26234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2021–22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426234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СДУ во Владимирской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Пензенской обл.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423545" y="1828800"/>
            <a:ext cx="219456" cy="219456"/>
          </a:xfrm>
          <a:prstGeom prst="ellipse">
            <a:avLst/>
          </a:prstGeom>
          <a:solidFill>
            <a:srgbClr val="0E6B6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801753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01753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Пансионат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«Ярдэм»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10707624" y="1737360"/>
            <a:ext cx="402336" cy="402336"/>
          </a:xfrm>
          <a:prstGeom prst="ellipse">
            <a:avLst/>
          </a:prstGeom>
          <a:solidFill>
            <a:srgbClr val="FBE3CF"/>
          </a:solidFill>
          <a:ln w="12700">
            <a:solidFill>
              <a:srgbClr val="FBE3C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799064" y="1828800"/>
            <a:ext cx="219456" cy="219456"/>
          </a:xfrm>
          <a:prstGeom prst="ellipse">
            <a:avLst/>
          </a:prstGeom>
          <a:solidFill>
            <a:srgbClr val="D9824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0177272" y="221284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0177272" y="2523744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Sidelka Online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3383280"/>
            <a:ext cx="3566160" cy="2880360"/>
          </a:xfrm>
          <a:prstGeom prst="roundRect">
            <a:avLst>
              <a:gd name="adj" fmla="val 4444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3611880"/>
            <a:ext cx="384048" cy="38404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841248" y="411480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Достойная старость — не привилегия</a:t>
            </a:r>
            <a:endParaRPr lang="en-US" sz="2100" dirty="0"/>
          </a:p>
        </p:txBody>
      </p:sp>
      <p:sp>
        <p:nvSpPr>
          <p:cNvPr id="37" name="Text 34"/>
          <p:cNvSpPr txBox="1"/>
          <p:nvPr/>
        </p:nvSpPr>
        <p:spPr>
          <a:xfrm>
            <a:off x="841248" y="4937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пожилой человек получает помощь и остаётся самостоятельным — независимо от того, есть ли рядом родственники.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841248" y="583387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Достоинство · Автономность · Доверие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297680" y="3383280"/>
            <a:ext cx="4526280" cy="28803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4572000" y="354787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Кратко о бизнесе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4572000" y="3931920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362" y="4041282"/>
            <a:ext cx="201900" cy="201900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5138928" y="391363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Отрасль.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Социальные услуги: уход за пожилыми и тяжелобольными</a:t>
            </a: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572000" y="4498848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1362" y="4608210"/>
            <a:ext cx="201900" cy="201900"/>
          </a:xfrm>
          <a:prstGeom prst="rect">
            <a:avLst/>
          </a:prstGeom>
        </p:spPr>
      </p:pic>
      <p:sp>
        <p:nvSpPr>
          <p:cNvPr id="46" name="Text 41"/>
          <p:cNvSpPr txBox="1"/>
          <p:nvPr/>
        </p:nvSpPr>
        <p:spPr>
          <a:xfrm>
            <a:off x="5138928" y="448056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кого.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Люди, потерявшие самостоятельность, их семьи, государство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4572000" y="5065776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4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362" y="5175138"/>
            <a:ext cx="201900" cy="201900"/>
          </a:xfrm>
          <a:prstGeom prst="rect">
            <a:avLst/>
          </a:prstGeom>
        </p:spPr>
      </p:pic>
      <p:sp>
        <p:nvSpPr>
          <p:cNvPr id="49" name="Text 43"/>
          <p:cNvSpPr txBox="1"/>
          <p:nvPr/>
        </p:nvSpPr>
        <p:spPr>
          <a:xfrm>
            <a:off x="5138928" y="504748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Продукт.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Уход на дому, пансионаты, обучение, прокат ТСР, эрготерапия</a:t>
            </a:r>
            <a:endParaRPr lang="en-US" sz="1150" dirty="0"/>
          </a:p>
        </p:txBody>
      </p:sp>
      <p:sp>
        <p:nvSpPr>
          <p:cNvPr id="50" name="Shape 44"/>
          <p:cNvSpPr/>
          <p:nvPr/>
        </p:nvSpPr>
        <p:spPr>
          <a:xfrm>
            <a:off x="4572000" y="5632704"/>
            <a:ext cx="420624" cy="420624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5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362" y="5742066"/>
            <a:ext cx="201900" cy="201900"/>
          </a:xfrm>
          <a:prstGeom prst="rect">
            <a:avLst/>
          </a:prstGeom>
        </p:spPr>
      </p:pic>
      <p:sp>
        <p:nvSpPr>
          <p:cNvPr id="52" name="Text 45"/>
          <p:cNvSpPr txBox="1"/>
          <p:nvPr/>
        </p:nvSpPr>
        <p:spPr>
          <a:xfrm>
            <a:off x="5138928" y="561441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Ценность. </a:t>
            </a:r>
            <a:pPr indent="0" marL="0">
              <a:buNone/>
            </a:pPr>
            <a:r>
              <a:rPr lang="en-US" sz="11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Проверенная помощь за 1–2 дня в «одном окне»</a:t>
            </a:r>
            <a:endParaRPr lang="en-US" sz="1150" dirty="0"/>
          </a:p>
        </p:txBody>
      </p:sp>
      <p:pic>
        <p:nvPicPr>
          <p:cNvPr id="53" name="Image 5" descr="img/elder_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8552" y="3383280"/>
            <a:ext cx="26517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4739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3392424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3392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Уникальность и актуальность бизнеса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Помощь за 1–2 дня вместо 3 недель ожидания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72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выбирают нас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212080" y="1920240"/>
            <a:ext cx="2240280" cy="2926080"/>
          </a:xfrm>
          <a:prstGeom prst="roundRect">
            <a:avLst>
              <a:gd name="adj" fmla="val 5714"/>
            </a:avLst>
          </a:prstGeom>
          <a:solidFill>
            <a:srgbClr val="EAF7F5"/>
          </a:solidFill>
          <a:ln w="19050">
            <a:solidFill>
              <a:srgbClr val="0E6B6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99339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9933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Госучреждение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993392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Частная сиделка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257800" y="199339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Содействие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432304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487168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начала помощи</a:t>
            </a:r>
            <a:endParaRPr lang="en-US" sz="13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944" y="2532888"/>
            <a:ext cx="164592" cy="16459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2377440" y="27432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3 недель</a:t>
            </a:r>
            <a:endParaRPr lang="en-US" sz="11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1124" y="2532888"/>
            <a:ext cx="164592" cy="164592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3794760" y="274320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ищут сами</a:t>
            </a:r>
            <a:endParaRPr lang="en-US" sz="11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0780" y="2514600"/>
            <a:ext cx="182880" cy="18288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49240" y="274320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1–2 дня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3200400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548640" y="3255264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Квалификация персонала</a:t>
            </a:r>
            <a:endParaRPr lang="en-US" sz="13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0944" y="3300984"/>
            <a:ext cx="164592" cy="16459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377440" y="3511296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есть</a:t>
            </a:r>
            <a:endParaRPr lang="en-US" sz="11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1124" y="3300984"/>
            <a:ext cx="164592" cy="16459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3794760" y="3511296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сложно проверить</a:t>
            </a:r>
            <a:endParaRPr lang="en-US" sz="1100" dirty="0"/>
          </a:p>
        </p:txBody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0780" y="3282696"/>
            <a:ext cx="182880" cy="18288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9240" y="3511296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1 500+ обученных</a:t>
            </a:r>
            <a:endParaRPr lang="en-US" sz="1250" dirty="0"/>
          </a:p>
        </p:txBody>
      </p:sp>
      <p:sp>
        <p:nvSpPr>
          <p:cNvPr id="29" name="Shape 21"/>
          <p:cNvSpPr/>
          <p:nvPr/>
        </p:nvSpPr>
        <p:spPr>
          <a:xfrm>
            <a:off x="548640" y="3968496"/>
            <a:ext cx="4663440" cy="0"/>
          </a:xfrm>
          <a:prstGeom prst="line">
            <a:avLst/>
          </a:prstGeom>
          <a:noFill/>
          <a:ln w="12700">
            <a:solidFill>
              <a:srgbClr val="ECECEC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48640" y="4023360"/>
            <a:ext cx="1783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маршрут ухода</a:t>
            </a:r>
            <a:endParaRPr lang="en-US" sz="1300" dirty="0"/>
          </a:p>
        </p:txBody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80944" y="4069080"/>
            <a:ext cx="164592" cy="164592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2377440" y="427939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отдельные услуги</a:t>
            </a:r>
            <a:endParaRPr lang="en-US" sz="1100" dirty="0"/>
          </a:p>
        </p:txBody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1124" y="4069080"/>
            <a:ext cx="164592" cy="164592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3794760" y="427939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сиделка</a:t>
            </a:r>
            <a:endParaRPr lang="en-US" sz="1100" dirty="0"/>
          </a:p>
        </p:txBody>
      </p:sp>
      <p:pic>
        <p:nvPicPr>
          <p:cNvPr id="3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0780" y="4050792"/>
            <a:ext cx="182880" cy="18288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5349240" y="427939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дом, пансионат, ТСР, обучение</a:t>
            </a:r>
            <a:endParaRPr lang="en-US" sz="1250" dirty="0"/>
          </a:p>
        </p:txBody>
      </p:sp>
      <p:sp>
        <p:nvSpPr>
          <p:cNvPr id="37" name="Shape 26"/>
          <p:cNvSpPr/>
          <p:nvPr/>
        </p:nvSpPr>
        <p:spPr>
          <a:xfrm>
            <a:off x="7635240" y="1572768"/>
            <a:ext cx="4005072" cy="3273552"/>
          </a:xfrm>
          <a:prstGeom prst="roundRect">
            <a:avLst>
              <a:gd name="adj" fmla="val 3911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38" name="Text 27"/>
          <p:cNvSpPr txBox="1"/>
          <p:nvPr/>
        </p:nvSpPr>
        <p:spPr>
          <a:xfrm>
            <a:off x="7909560" y="1737360"/>
            <a:ext cx="3547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 нужно сейчас</a:t>
            </a:r>
            <a:endParaRPr lang="en-US" sz="1400" dirty="0"/>
          </a:p>
        </p:txBody>
      </p:sp>
      <p:sp>
        <p:nvSpPr>
          <p:cNvPr id="39" name="Shape 28"/>
          <p:cNvSpPr/>
          <p:nvPr/>
        </p:nvSpPr>
        <p:spPr>
          <a:xfrm>
            <a:off x="7909560" y="219456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0319" y="2325319"/>
            <a:ext cx="241402" cy="241402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8549640" y="217627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Население стареет — растёт число людей, которым нужен постоянный уход</a:t>
            </a:r>
            <a:endParaRPr lang="en-US" sz="1250" dirty="0"/>
          </a:p>
        </p:txBody>
      </p:sp>
      <p:sp>
        <p:nvSpPr>
          <p:cNvPr id="42" name="Shape 30"/>
          <p:cNvSpPr/>
          <p:nvPr/>
        </p:nvSpPr>
        <p:spPr>
          <a:xfrm>
            <a:off x="7909560" y="306324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40319" y="3193999"/>
            <a:ext cx="241402" cy="241402"/>
          </a:xfrm>
          <a:prstGeom prst="rect">
            <a:avLst/>
          </a:prstGeom>
        </p:spPr>
      </p:pic>
      <p:sp>
        <p:nvSpPr>
          <p:cNvPr id="44" name="Text 31"/>
          <p:cNvSpPr txBox="1"/>
          <p:nvPr/>
        </p:nvSpPr>
        <p:spPr>
          <a:xfrm>
            <a:off x="8549640" y="304495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Семья остаётся один на один с уходом и выпадает из работы</a:t>
            </a:r>
            <a:endParaRPr lang="en-US" sz="1250" dirty="0"/>
          </a:p>
        </p:txBody>
      </p:sp>
      <p:sp>
        <p:nvSpPr>
          <p:cNvPr id="45" name="Shape 32"/>
          <p:cNvSpPr/>
          <p:nvPr/>
        </p:nvSpPr>
        <p:spPr>
          <a:xfrm>
            <a:off x="7909560" y="3931920"/>
            <a:ext cx="502920" cy="5029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pic>
        <p:nvPicPr>
          <p:cNvPr id="46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40319" y="4062679"/>
            <a:ext cx="241402" cy="241402"/>
          </a:xfrm>
          <a:prstGeom prst="rect">
            <a:avLst/>
          </a:prstGeom>
        </p:spPr>
      </p:pic>
      <p:sp>
        <p:nvSpPr>
          <p:cNvPr id="47" name="Text 33"/>
          <p:cNvSpPr txBox="1"/>
          <p:nvPr/>
        </p:nvSpPr>
        <p:spPr>
          <a:xfrm>
            <a:off x="8549640" y="3913632"/>
            <a:ext cx="2862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Госучреждения перегружены, рынок частных сиделок непрозрачен</a:t>
            </a:r>
            <a:endParaRPr lang="en-US" sz="1250" dirty="0"/>
          </a:p>
        </p:txBody>
      </p:sp>
      <p:sp>
        <p:nvSpPr>
          <p:cNvPr id="48" name="Shape 34"/>
          <p:cNvSpPr/>
          <p:nvPr/>
        </p:nvSpPr>
        <p:spPr>
          <a:xfrm>
            <a:off x="548640" y="5074920"/>
            <a:ext cx="11091672" cy="1207008"/>
          </a:xfrm>
          <a:prstGeom prst="roundRect">
            <a:avLst>
              <a:gd name="adj" fmla="val 10606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pic>
        <p:nvPicPr>
          <p:cNvPr id="49" name="Image 12" descr="img/tablet_r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944" y="5175504"/>
            <a:ext cx="1005840" cy="1005840"/>
          </a:xfrm>
          <a:prstGeom prst="rect">
            <a:avLst/>
          </a:prstGeom>
        </p:spPr>
      </p:pic>
      <p:sp>
        <p:nvSpPr>
          <p:cNvPr id="50" name="Text 35"/>
          <p:cNvSpPr txBox="1"/>
          <p:nvPr/>
        </p:nvSpPr>
        <p:spPr>
          <a:xfrm>
            <a:off x="1920240" y="523036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Инновация: Sidelka Online</a:t>
            </a:r>
            <a:endParaRPr lang="en-US" sz="1600" dirty="0"/>
          </a:p>
        </p:txBody>
      </p:sp>
      <p:sp>
        <p:nvSpPr>
          <p:cNvPr id="51" name="Text 36"/>
          <p:cNvSpPr txBox="1"/>
          <p:nvPr/>
        </p:nvSpPr>
        <p:spPr>
          <a:xfrm>
            <a:off x="1920240" y="5577840"/>
            <a:ext cx="5120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Цифровая платформа: быстрый подбор проверенной сиделки, GPS-контроль визитов, ИИ-подсказки по уходу, обучение и рейтинг</a:t>
            </a:r>
            <a:endParaRPr lang="en-US" sz="1200" dirty="0"/>
          </a:p>
        </p:txBody>
      </p:sp>
      <p:sp>
        <p:nvSpPr>
          <p:cNvPr id="52" name="Text 37"/>
          <p:cNvSpPr txBox="1"/>
          <p:nvPr/>
        </p:nvSpPr>
        <p:spPr>
          <a:xfrm>
            <a:off x="7452360" y="517550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594</a:t>
            </a:r>
            <a:endParaRPr lang="en-US" sz="3600" dirty="0"/>
          </a:p>
        </p:txBody>
      </p:sp>
      <p:sp>
        <p:nvSpPr>
          <p:cNvPr id="53" name="Text 38"/>
          <p:cNvSpPr txBox="1"/>
          <p:nvPr/>
        </p:nvSpPr>
        <p:spPr>
          <a:xfrm>
            <a:off x="7452360" y="5779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сиделки в пилоте</a:t>
            </a:r>
            <a:endParaRPr lang="en-US" sz="1150" dirty="0"/>
          </a:p>
        </p:txBody>
      </p:sp>
      <p:sp>
        <p:nvSpPr>
          <p:cNvPr id="54" name="Shape 39"/>
          <p:cNvSpPr/>
          <p:nvPr/>
        </p:nvSpPr>
        <p:spPr>
          <a:xfrm>
            <a:off x="9326880" y="5303520"/>
            <a:ext cx="0" cy="777240"/>
          </a:xfrm>
          <a:prstGeom prst="line">
            <a:avLst/>
          </a:prstGeom>
          <a:noFill/>
          <a:ln w="12700">
            <a:solidFill>
              <a:srgbClr val="2E6F6B"/>
            </a:solidFill>
            <a:prstDash val="solid"/>
          </a:ln>
        </p:spPr>
      </p:sp>
      <p:sp>
        <p:nvSpPr>
          <p:cNvPr id="55" name="Text 40"/>
          <p:cNvSpPr txBox="1"/>
          <p:nvPr/>
        </p:nvSpPr>
        <p:spPr>
          <a:xfrm>
            <a:off x="9509760" y="517550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487</a:t>
            </a:r>
            <a:endParaRPr lang="en-US" sz="3600" dirty="0"/>
          </a:p>
        </p:txBody>
      </p:sp>
      <p:sp>
        <p:nvSpPr>
          <p:cNvPr id="56" name="Text 41"/>
          <p:cNvSpPr txBox="1"/>
          <p:nvPr/>
        </p:nvSpPr>
        <p:spPr>
          <a:xfrm>
            <a:off x="9509760" y="57790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родственников в пилоте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4739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3465576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3465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Основные показатели за 2025–2026 гг.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 подопечных ежедневно и помощь за 1–2 дня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3931920" cy="3154680"/>
          </a:xfrm>
          <a:prstGeom prst="roundRect">
            <a:avLst>
              <a:gd name="adj" fmla="val 4058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04672" y="17373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Подопечные на обслуживании, чел.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685800" y="2057400"/>
          <a:ext cx="365760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663440" y="1572768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080760" y="1755648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612" y="1855500"/>
            <a:ext cx="184343" cy="18434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64608" y="19568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902</a:t>
            </a:r>
            <a:endParaRPr lang="en-US" sz="3000" dirty="0"/>
          </a:p>
        </p:txBody>
      </p:sp>
      <p:sp>
        <p:nvSpPr>
          <p:cNvPr id="14" name="Text 10"/>
          <p:cNvSpPr txBox="1"/>
          <p:nvPr/>
        </p:nvSpPr>
        <p:spPr>
          <a:xfrm>
            <a:off x="4864608" y="255117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 дому ежедневно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766560" y="1572768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183880" y="1755648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3732" y="1855500"/>
            <a:ext cx="184343" cy="184343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967728" y="1956816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3000" dirty="0"/>
          </a:p>
        </p:txBody>
      </p:sp>
      <p:sp>
        <p:nvSpPr>
          <p:cNvPr id="19" name="Text 14"/>
          <p:cNvSpPr txBox="1"/>
          <p:nvPr/>
        </p:nvSpPr>
        <p:spPr>
          <a:xfrm>
            <a:off x="6967728" y="255117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стационарном уходе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3200400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080760" y="3383280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0612" y="3483132"/>
            <a:ext cx="184343" cy="184343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4864608" y="35844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млн+</a:t>
            </a:r>
            <a:endParaRPr lang="en-US" sz="3000" dirty="0"/>
          </a:p>
        </p:txBody>
      </p:sp>
      <p:sp>
        <p:nvSpPr>
          <p:cNvPr id="24" name="Text 18"/>
          <p:cNvSpPr txBox="1"/>
          <p:nvPr/>
        </p:nvSpPr>
        <p:spPr>
          <a:xfrm>
            <a:off x="4864608" y="41788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социальных услуг в год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766560" y="3200400"/>
            <a:ext cx="1965960" cy="1527048"/>
          </a:xfrm>
          <a:prstGeom prst="roundRect">
            <a:avLst>
              <a:gd name="adj" fmla="val 838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183880" y="3383280"/>
            <a:ext cx="384048" cy="384048"/>
          </a:xfrm>
          <a:prstGeom prst="ellipse">
            <a:avLst/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3732" y="3483132"/>
            <a:ext cx="184343" cy="184343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967728" y="3584448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1 500+</a:t>
            </a:r>
            <a:endParaRPr lang="en-US" sz="3000" dirty="0"/>
          </a:p>
        </p:txBody>
      </p:sp>
      <p:sp>
        <p:nvSpPr>
          <p:cNvPr id="29" name="Text 22"/>
          <p:cNvSpPr txBox="1"/>
          <p:nvPr/>
        </p:nvSpPr>
        <p:spPr>
          <a:xfrm>
            <a:off x="6967728" y="417880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помощников обучено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8961120" y="1572768"/>
            <a:ext cx="2679192" cy="3154680"/>
          </a:xfrm>
          <a:prstGeom prst="roundRect">
            <a:avLst>
              <a:gd name="adj" fmla="val 4778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9189720" y="1737360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Качественные результаты</a:t>
            </a:r>
            <a:endParaRPr lang="en-US" sz="1200" dirty="0"/>
          </a:p>
        </p:txBody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89720" y="2148840"/>
            <a:ext cx="201168" cy="201168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9509760" y="212140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нед. → 1–2 дня</a:t>
            </a:r>
            <a:endParaRPr lang="en-US" sz="1250" dirty="0"/>
          </a:p>
        </p:txBody>
      </p:sp>
      <p:sp>
        <p:nvSpPr>
          <p:cNvPr id="34" name="Text 26"/>
          <p:cNvSpPr txBox="1"/>
          <p:nvPr/>
        </p:nvSpPr>
        <p:spPr>
          <a:xfrm>
            <a:off x="9509760" y="238658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срок организации помощи</a:t>
            </a:r>
            <a:endParaRPr lang="en-US" sz="1050" dirty="0"/>
          </a:p>
        </p:txBody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89720" y="2788920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509760" y="276148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проекта ФПГ</a:t>
            </a:r>
            <a:endParaRPr lang="en-US" sz="1250" dirty="0"/>
          </a:p>
        </p:txBody>
      </p:sp>
      <p:sp>
        <p:nvSpPr>
          <p:cNvPr id="37" name="Text 28"/>
          <p:cNvSpPr txBox="1"/>
          <p:nvPr/>
        </p:nvSpPr>
        <p:spPr>
          <a:xfrm>
            <a:off x="9509760" y="302666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Деменция и «Перевозка»</a:t>
            </a:r>
            <a:endParaRPr lang="en-US" sz="1050" dirty="0"/>
          </a:p>
        </p:txBody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9720" y="3429000"/>
            <a:ext cx="201168" cy="201168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509760" y="340156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родственников</a:t>
            </a:r>
            <a:endParaRPr lang="en-US" sz="1250" dirty="0"/>
          </a:p>
        </p:txBody>
      </p:sp>
      <p:sp>
        <p:nvSpPr>
          <p:cNvPr id="40" name="Text 30"/>
          <p:cNvSpPr txBox="1"/>
          <p:nvPr/>
        </p:nvSpPr>
        <p:spPr>
          <a:xfrm>
            <a:off x="9509760" y="366674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сохранили работу</a:t>
            </a:r>
            <a:endParaRPr lang="en-US" sz="1050" dirty="0"/>
          </a:p>
        </p:txBody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89720" y="4069080"/>
            <a:ext cx="201168" cy="201168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9509760" y="4041648"/>
            <a:ext cx="1993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платформы</a:t>
            </a:r>
            <a:endParaRPr lang="en-US" sz="1250" dirty="0"/>
          </a:p>
        </p:txBody>
      </p:sp>
      <p:sp>
        <p:nvSpPr>
          <p:cNvPr id="43" name="Text 32"/>
          <p:cNvSpPr txBox="1"/>
          <p:nvPr/>
        </p:nvSpPr>
        <p:spPr>
          <a:xfrm>
            <a:off x="9509760" y="4306824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Sidelka Online в тесте</a:t>
            </a:r>
            <a:endParaRPr lang="en-US" sz="1050" dirty="0"/>
          </a:p>
        </p:txBody>
      </p:sp>
      <p:sp>
        <p:nvSpPr>
          <p:cNvPr id="44" name="Shape 33"/>
          <p:cNvSpPr/>
          <p:nvPr/>
        </p:nvSpPr>
        <p:spPr>
          <a:xfrm>
            <a:off x="548640" y="4919472"/>
            <a:ext cx="11091672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5" name="Text 34"/>
          <p:cNvSpPr txBox="1"/>
          <p:nvPr/>
        </p:nvSpPr>
        <p:spPr>
          <a:xfrm>
            <a:off x="804672" y="50474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Финансовые показатели</a:t>
            </a:r>
            <a:endParaRPr lang="en-US" sz="1200" dirty="0"/>
          </a:p>
        </p:txBody>
      </p:sp>
      <p:sp>
        <p:nvSpPr>
          <p:cNvPr id="46" name="Shape 35"/>
          <p:cNvSpPr/>
          <p:nvPr/>
        </p:nvSpPr>
        <p:spPr>
          <a:xfrm>
            <a:off x="804672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47" name="Text 36"/>
          <p:cNvSpPr txBox="1"/>
          <p:nvPr/>
        </p:nvSpPr>
        <p:spPr>
          <a:xfrm>
            <a:off x="804672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48" name="Text 37"/>
          <p:cNvSpPr txBox="1"/>
          <p:nvPr/>
        </p:nvSpPr>
        <p:spPr>
          <a:xfrm>
            <a:off x="804672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2025</a:t>
            </a:r>
            <a:endParaRPr lang="en-US" sz="1100" dirty="0"/>
          </a:p>
        </p:txBody>
      </p:sp>
      <p:sp>
        <p:nvSpPr>
          <p:cNvPr id="49" name="Shape 38"/>
          <p:cNvSpPr/>
          <p:nvPr/>
        </p:nvSpPr>
        <p:spPr>
          <a:xfrm>
            <a:off x="2920594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50" name="Text 39"/>
          <p:cNvSpPr txBox="1"/>
          <p:nvPr/>
        </p:nvSpPr>
        <p:spPr>
          <a:xfrm>
            <a:off x="2920594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51" name="Text 40"/>
          <p:cNvSpPr txBox="1"/>
          <p:nvPr/>
        </p:nvSpPr>
        <p:spPr>
          <a:xfrm>
            <a:off x="2920594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Выручка 2026 (прогноз)</a:t>
            </a:r>
            <a:endParaRPr lang="en-US" sz="1100" dirty="0"/>
          </a:p>
        </p:txBody>
      </p:sp>
      <p:sp>
        <p:nvSpPr>
          <p:cNvPr id="52" name="Shape 41"/>
          <p:cNvSpPr/>
          <p:nvPr/>
        </p:nvSpPr>
        <p:spPr>
          <a:xfrm>
            <a:off x="5036515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53" name="Text 42"/>
          <p:cNvSpPr txBox="1"/>
          <p:nvPr/>
        </p:nvSpPr>
        <p:spPr>
          <a:xfrm>
            <a:off x="5036515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54" name="Text 43"/>
          <p:cNvSpPr txBox="1"/>
          <p:nvPr/>
        </p:nvSpPr>
        <p:spPr>
          <a:xfrm>
            <a:off x="5036515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Прибыль</a:t>
            </a:r>
            <a:endParaRPr lang="en-US" sz="1100" dirty="0"/>
          </a:p>
        </p:txBody>
      </p:sp>
      <p:sp>
        <p:nvSpPr>
          <p:cNvPr id="55" name="Shape 44"/>
          <p:cNvSpPr/>
          <p:nvPr/>
        </p:nvSpPr>
        <p:spPr>
          <a:xfrm>
            <a:off x="7152437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56" name="Text 45"/>
          <p:cNvSpPr txBox="1"/>
          <p:nvPr/>
        </p:nvSpPr>
        <p:spPr>
          <a:xfrm>
            <a:off x="7152437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57" name="Text 46"/>
          <p:cNvSpPr txBox="1"/>
          <p:nvPr/>
        </p:nvSpPr>
        <p:spPr>
          <a:xfrm>
            <a:off x="7152437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Средний чек B2C</a:t>
            </a:r>
            <a:endParaRPr lang="en-US" sz="1100" dirty="0"/>
          </a:p>
        </p:txBody>
      </p:sp>
      <p:sp>
        <p:nvSpPr>
          <p:cNvPr id="58" name="Shape 47"/>
          <p:cNvSpPr/>
          <p:nvPr/>
        </p:nvSpPr>
        <p:spPr>
          <a:xfrm>
            <a:off x="9268358" y="5376672"/>
            <a:ext cx="1933042" cy="45720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2700">
            <a:solidFill>
              <a:srgbClr val="D8CDBB"/>
            </a:solidFill>
            <a:prstDash val="dash"/>
          </a:ln>
        </p:spPr>
      </p:sp>
      <p:sp>
        <p:nvSpPr>
          <p:cNvPr id="59" name="Text 48"/>
          <p:cNvSpPr txBox="1"/>
          <p:nvPr/>
        </p:nvSpPr>
        <p:spPr>
          <a:xfrm>
            <a:off x="9268358" y="5376672"/>
            <a:ext cx="19330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AE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вписать</a:t>
            </a:r>
            <a:endParaRPr lang="en-US" sz="1400" dirty="0"/>
          </a:p>
        </p:txBody>
      </p:sp>
      <p:sp>
        <p:nvSpPr>
          <p:cNvPr id="60" name="Text 49"/>
          <p:cNvSpPr txBox="1"/>
          <p:nvPr/>
        </p:nvSpPr>
        <p:spPr>
          <a:xfrm>
            <a:off x="9268358" y="5888736"/>
            <a:ext cx="193304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B2G / B2C / гранты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4739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295351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2953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Социальная значимость бизнеса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Помогаем человеку, семье и региону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926080" y="177393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9707" y="1897563"/>
            <a:ext cx="228234" cy="228234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04672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1 000+</a:t>
            </a:r>
            <a:endParaRPr lang="en-US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804672" y="2395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рабочих мест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26883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сотрудники и специалисты по уходу в 3 регионах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794760" y="157276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172200" y="177393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827" y="1897563"/>
            <a:ext cx="228234" cy="22823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0792" y="17373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4050792" y="2395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родственников работают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4050792" y="268833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им не пришлось уходить с работы, чтобы ухаживать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548640" y="344728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2926080" y="36484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707" y="3772083"/>
            <a:ext cx="228234" cy="22823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04672" y="3611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804672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муниципальных района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04672" y="45628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помощь рядом с домом в 3 регионах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3794760" y="3447288"/>
            <a:ext cx="3108960" cy="1737360"/>
          </a:xfrm>
          <a:prstGeom prst="roundRect">
            <a:avLst>
              <a:gd name="adj" fmla="val 7368"/>
            </a:avLst>
          </a:prstGeom>
          <a:solidFill>
            <a:srgbClr val="F8F3EA"/>
          </a:solidFill>
          <a:ln w="9525">
            <a:solidFill>
              <a:srgbClr val="F8F3EA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6172200" y="3648456"/>
            <a:ext cx="475488" cy="47548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827" y="3772083"/>
            <a:ext cx="228234" cy="22823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050792" y="36118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955</a:t>
            </a:r>
            <a:endParaRPr lang="en-US" sz="3600" dirty="0"/>
          </a:p>
        </p:txBody>
      </p:sp>
      <p:sp>
        <p:nvSpPr>
          <p:cNvPr id="29" name="Text 23"/>
          <p:cNvSpPr txBox="1"/>
          <p:nvPr/>
        </p:nvSpPr>
        <p:spPr>
          <a:xfrm>
            <a:off x="4050792" y="4270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человек ежедневно</a:t>
            </a:r>
            <a:endParaRPr lang="en-US" sz="1400" dirty="0"/>
          </a:p>
        </p:txBody>
      </p:sp>
      <p:sp>
        <p:nvSpPr>
          <p:cNvPr id="30" name="Text 24"/>
          <p:cNvSpPr txBox="1"/>
          <p:nvPr/>
        </p:nvSpPr>
        <p:spPr>
          <a:xfrm>
            <a:off x="4050792" y="4562856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сохраняют самостоятельность дома и в пансионате</a:t>
            </a:r>
            <a:endParaRPr lang="en-US" sz="115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5440680"/>
            <a:ext cx="6355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Снижаем нагрузку на социальные и медицинские службы и предупреждаем осложнения у подопечных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7223760" y="1572768"/>
            <a:ext cx="4416552" cy="4709160"/>
          </a:xfrm>
          <a:prstGeom prst="roundRect">
            <a:avLst>
              <a:gd name="adj" fmla="val 2899"/>
            </a:avLst>
          </a:prstGeom>
          <a:solidFill>
            <a:srgbClr val="064C49"/>
          </a:solidFill>
          <a:ln w="12700">
            <a:solidFill>
              <a:srgbClr val="064C49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498080" y="1755648"/>
            <a:ext cx="3867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Благотворительные инициативы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7498080" y="214884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Проекты Фонда президентских грантов</a:t>
            </a:r>
            <a:endParaRPr lang="en-US" sz="1200" dirty="0"/>
          </a:p>
        </p:txBody>
      </p:sp>
      <p:sp>
        <p:nvSpPr>
          <p:cNvPr id="35" name="Shape 29"/>
          <p:cNvSpPr/>
          <p:nvPr/>
        </p:nvSpPr>
        <p:spPr>
          <a:xfrm>
            <a:off x="7498080" y="2468880"/>
            <a:ext cx="1865376" cy="548640"/>
          </a:xfrm>
          <a:prstGeom prst="roundRect">
            <a:avLst>
              <a:gd name="adj" fmla="val 16667"/>
            </a:avLst>
          </a:prstGeom>
          <a:solidFill>
            <a:srgbClr val="0E6B65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7498080" y="24688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Деменция</a:t>
            </a:r>
            <a:endParaRPr lang="en-US" sz="1200" dirty="0"/>
          </a:p>
        </p:txBody>
      </p:sp>
      <p:sp>
        <p:nvSpPr>
          <p:cNvPr id="37" name="Shape 31"/>
          <p:cNvSpPr/>
          <p:nvPr/>
        </p:nvSpPr>
        <p:spPr>
          <a:xfrm>
            <a:off x="9500616" y="2468880"/>
            <a:ext cx="1865376" cy="548640"/>
          </a:xfrm>
          <a:prstGeom prst="roundRect">
            <a:avLst>
              <a:gd name="adj" fmla="val 16667"/>
            </a:avLst>
          </a:prstGeom>
          <a:solidFill>
            <a:srgbClr val="0E6B65"/>
          </a:solidFill>
          <a:ln w="12700">
            <a:solidFill>
              <a:srgbClr val="F0B47C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9500616" y="246888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Бесплатная перевозка</a:t>
            </a:r>
            <a:endParaRPr lang="en-US" sz="1200" dirty="0"/>
          </a:p>
        </p:txBody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01568"/>
            <a:ext cx="384048" cy="384048"/>
          </a:xfrm>
          <a:prstGeom prst="rect">
            <a:avLst/>
          </a:prstGeom>
        </p:spPr>
      </p:pic>
      <p:sp>
        <p:nvSpPr>
          <p:cNvPr id="40" name="Text 33"/>
          <p:cNvSpPr txBox="1"/>
          <p:nvPr/>
        </p:nvSpPr>
        <p:spPr>
          <a:xfrm>
            <a:off x="8001000" y="32461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300+</a:t>
            </a:r>
            <a:endParaRPr lang="en-US" sz="3600" dirty="0"/>
          </a:p>
        </p:txBody>
      </p:sp>
      <p:sp>
        <p:nvSpPr>
          <p:cNvPr id="41" name="Text 34"/>
          <p:cNvSpPr txBox="1"/>
          <p:nvPr/>
        </p:nvSpPr>
        <p:spPr>
          <a:xfrm>
            <a:off x="9464040" y="3273552"/>
            <a:ext cx="1947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волонтёров проводят праздники и акции для подопечных</a:t>
            </a:r>
            <a:endParaRPr lang="en-US" sz="1200" dirty="0"/>
          </a:p>
        </p:txBody>
      </p:sp>
      <p:pic>
        <p:nvPicPr>
          <p:cNvPr id="4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0" y="4224528"/>
            <a:ext cx="274320" cy="274320"/>
          </a:xfrm>
          <a:prstGeom prst="rect">
            <a:avLst/>
          </a:prstGeom>
        </p:spPr>
      </p:pic>
      <p:sp>
        <p:nvSpPr>
          <p:cNvPr id="43" name="Text 35"/>
          <p:cNvSpPr txBox="1"/>
          <p:nvPr/>
        </p:nvSpPr>
        <p:spPr>
          <a:xfrm>
            <a:off x="7882128" y="42245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год</a:t>
            </a:r>
            <a:endParaRPr lang="en-US" sz="1200" dirty="0"/>
          </a:p>
        </p:txBody>
      </p:sp>
      <p:sp>
        <p:nvSpPr>
          <p:cNvPr id="44" name="Text 36"/>
          <p:cNvSpPr txBox="1"/>
          <p:nvPr/>
        </p:nvSpPr>
        <p:spPr>
          <a:xfrm>
            <a:off x="7498080" y="4572000"/>
            <a:ext cx="3867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День пожилого человека · 23 Февраля · 8 Марта · Неделя инвалидов</a:t>
            </a:r>
            <a:endParaRPr lang="en-US" sz="1200" dirty="0"/>
          </a:p>
        </p:txBody>
      </p:sp>
      <p:sp>
        <p:nvSpPr>
          <p:cNvPr id="45" name="Text 37"/>
          <p:cNvSpPr txBox="1"/>
          <p:nvPr/>
        </p:nvSpPr>
        <p:spPr>
          <a:xfrm>
            <a:off x="7498080" y="5285232"/>
            <a:ext cx="3867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Вокруг подопечных складывается сообщество заботы — семьи, волонтёры, специалисты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3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4739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384048"/>
            <a:ext cx="1490472" cy="310896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84048"/>
            <a:ext cx="1490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О команде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786384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Команда, которая построила систему ухода в 3 регионах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48640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9" name="Image 0" descr="img/c_team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847088"/>
            <a:ext cx="1097280" cy="1097280"/>
          </a:xfrm>
          <a:prstGeom prst="ellipse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103120" y="1865376"/>
            <a:ext cx="844906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03120" y="1865376"/>
            <a:ext cx="8449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Директор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2103120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 Александровна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081528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Стратегия, развитие и масштабирование; инициатор Sidelka Online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279392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480560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16" name="Image 1" descr="img/c_team1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847088"/>
            <a:ext cx="1097280" cy="1097280"/>
          </a:xfrm>
          <a:prstGeom prst="ellipse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833872" y="1865376"/>
            <a:ext cx="1486814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833872" y="1865376"/>
            <a:ext cx="14868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бухгалтер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5833872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Алёна Минькина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4507992" y="3081528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Финансовое управление, отчётность, устойчивость модели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010144" y="1572768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211312" y="1801368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23" name="Image 2" descr="img/c_team15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1847088"/>
            <a:ext cx="1097280" cy="1097280"/>
          </a:xfrm>
          <a:prstGeom prst="ellipse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9564624" y="1865376"/>
            <a:ext cx="1772107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564624" y="1865376"/>
            <a:ext cx="17721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Заместитель директора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9564624" y="2231136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Эндже Латыпова</a:t>
            </a:r>
            <a:endParaRPr lang="en-US" sz="1400" dirty="0"/>
          </a:p>
        </p:txBody>
      </p:sp>
      <p:sp>
        <p:nvSpPr>
          <p:cNvPr id="27" name="Text 22"/>
          <p:cNvSpPr txBox="1"/>
          <p:nvPr/>
        </p:nvSpPr>
        <p:spPr>
          <a:xfrm>
            <a:off x="8238744" y="3081528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Текущие бизнес-процессы, координация подразделений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548640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749808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30" name="Image 3" descr="img/c_team20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4050792"/>
            <a:ext cx="1097280" cy="1097280"/>
          </a:xfrm>
          <a:prstGeom prst="ellipse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2103120" y="4069080"/>
            <a:ext cx="1772107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2103120" y="4069080"/>
            <a:ext cx="177210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Заместитель директора</a:t>
            </a:r>
            <a:endParaRPr lang="en-US" sz="950" dirty="0"/>
          </a:p>
        </p:txBody>
      </p:sp>
      <p:sp>
        <p:nvSpPr>
          <p:cNvPr id="33" name="Text 27"/>
          <p:cNvSpPr txBox="1"/>
          <p:nvPr/>
        </p:nvSpPr>
        <p:spPr>
          <a:xfrm>
            <a:off x="2103120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Айгуль Хасамутдинова</a:t>
            </a:r>
            <a:endParaRPr lang="en-US" sz="1400" dirty="0"/>
          </a:p>
        </p:txBody>
      </p:sp>
      <p:sp>
        <p:nvSpPr>
          <p:cNvPr id="34" name="Text 28"/>
          <p:cNvSpPr txBox="1"/>
          <p:nvPr/>
        </p:nvSpPr>
        <p:spPr>
          <a:xfrm>
            <a:off x="777240" y="5285232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Пансионаты: качество ухода и стандарты персонала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4279392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36" name="Shape 30"/>
          <p:cNvSpPr/>
          <p:nvPr/>
        </p:nvSpPr>
        <p:spPr>
          <a:xfrm>
            <a:off x="4480560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37" name="Image 4" descr="img/c_team25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6280" y="4050792"/>
            <a:ext cx="1097280" cy="1097280"/>
          </a:xfrm>
          <a:prstGeom prst="ellipse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833872" y="4069080"/>
            <a:ext cx="1058875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39" name="Text 32"/>
          <p:cNvSpPr txBox="1"/>
          <p:nvPr/>
        </p:nvSpPr>
        <p:spPr>
          <a:xfrm>
            <a:off x="5833872" y="4069080"/>
            <a:ext cx="10588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IT-продукты</a:t>
            </a:r>
            <a:endParaRPr lang="en-US" sz="950" dirty="0"/>
          </a:p>
        </p:txBody>
      </p:sp>
      <p:sp>
        <p:nvSpPr>
          <p:cNvPr id="40" name="Text 33"/>
          <p:cNvSpPr txBox="1"/>
          <p:nvPr/>
        </p:nvSpPr>
        <p:spPr>
          <a:xfrm>
            <a:off x="5833872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Айрат Сагдеев</a:t>
            </a:r>
            <a:endParaRPr lang="en-US" sz="1400" dirty="0"/>
          </a:p>
        </p:txBody>
      </p:sp>
      <p:sp>
        <p:nvSpPr>
          <p:cNvPr id="41" name="Text 34"/>
          <p:cNvSpPr txBox="1"/>
          <p:nvPr/>
        </p:nvSpPr>
        <p:spPr>
          <a:xfrm>
            <a:off x="4507992" y="5285232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Развитие и тестирование платформы Sidelka Online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8010144" y="3776472"/>
            <a:ext cx="3584448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B3B39">
                <a:alpha val="8000"/>
              </a:srgbClr>
            </a:outerShdw>
          </a:effectLst>
        </p:spPr>
      </p:sp>
      <p:sp>
        <p:nvSpPr>
          <p:cNvPr id="43" name="Shape 36"/>
          <p:cNvSpPr/>
          <p:nvPr/>
        </p:nvSpPr>
        <p:spPr>
          <a:xfrm>
            <a:off x="8211312" y="4005072"/>
            <a:ext cx="1188720" cy="118872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44" name="Image 5" descr="img/c_team30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57032" y="4050792"/>
            <a:ext cx="1097280" cy="1097280"/>
          </a:xfrm>
          <a:prstGeom prst="ellipse">
            <a:avLst/>
          </a:prstGeom>
        </p:spPr>
      </p:pic>
      <p:sp>
        <p:nvSpPr>
          <p:cNvPr id="45" name="Shape 37"/>
          <p:cNvSpPr/>
          <p:nvPr/>
        </p:nvSpPr>
        <p:spPr>
          <a:xfrm>
            <a:off x="9564624" y="4069080"/>
            <a:ext cx="844906" cy="256032"/>
          </a:xfrm>
          <a:prstGeom prst="roundRect">
            <a:avLst>
              <a:gd name="adj" fmla="val 50000"/>
            </a:avLst>
          </a:prstGeom>
          <a:solidFill>
            <a:srgbClr val="DDEEEB"/>
          </a:solidFill>
          <a:ln w="12700">
            <a:solidFill>
              <a:srgbClr val="DDEEEB"/>
            </a:solidFill>
            <a:prstDash val="solid"/>
          </a:ln>
        </p:spPr>
      </p:sp>
      <p:sp>
        <p:nvSpPr>
          <p:cNvPr id="46" name="Text 38"/>
          <p:cNvSpPr txBox="1"/>
          <p:nvPr/>
        </p:nvSpPr>
        <p:spPr>
          <a:xfrm>
            <a:off x="9564624" y="4069080"/>
            <a:ext cx="8449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6B6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Психолог</a:t>
            </a:r>
            <a:endParaRPr lang="en-US" sz="950" dirty="0"/>
          </a:p>
        </p:txBody>
      </p:sp>
      <p:sp>
        <p:nvSpPr>
          <p:cNvPr id="47" name="Text 39"/>
          <p:cNvSpPr txBox="1"/>
          <p:nvPr/>
        </p:nvSpPr>
        <p:spPr>
          <a:xfrm>
            <a:off x="9564624" y="443484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64C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Роза Закирова</a:t>
            </a:r>
            <a:endParaRPr lang="en-US" sz="1400" dirty="0"/>
          </a:p>
        </p:txBody>
      </p:sp>
      <p:sp>
        <p:nvSpPr>
          <p:cNvPr id="48" name="Text 40"/>
          <p:cNvSpPr txBox="1"/>
          <p:nvPr/>
        </p:nvSpPr>
        <p:spPr>
          <a:xfrm>
            <a:off x="8238744" y="5285232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6B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Сопровождение подопечных и поддержка родственников</a:t>
            </a:r>
            <a:endParaRPr lang="en-US" sz="1100" dirty="0"/>
          </a:p>
        </p:txBody>
      </p:sp>
      <p:sp>
        <p:nvSpPr>
          <p:cNvPr id="49" name="Text 41"/>
          <p:cNvSpPr txBox="1"/>
          <p:nvPr/>
        </p:nvSpPr>
        <p:spPr>
          <a:xfrm>
            <a:off x="548640" y="5943600"/>
            <a:ext cx="11091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2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1 000+ </a:t>
            </a:r>
            <a:pPr indent="0" marL="0">
              <a:buNone/>
            </a:pPr>
            <a:r>
              <a:rPr lang="en-US" sz="1400" dirty="0">
                <a:solidFill>
                  <a:srgbClr val="1E2F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специалистов и сотрудников системы ухода в 3 регионах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4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73952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Всероссийская премия «Молодой предприниматель России»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10543032" y="647395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07</a:t>
            </a:r>
            <a:endParaRPr lang="en-US" sz="9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737360"/>
            <a:ext cx="6949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Достойная старость —</a:t>
            </a:r>
            <a:endParaRPr lang="en-US" sz="46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привилегия</a:t>
            </a:r>
            <a:endParaRPr lang="en-US" sz="4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7472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AF7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шаг — сделать качественный уход доступным в каждом городе. Sidelka Online поможет масштабировать то, что уже работает в трёх регионах.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9834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0B4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Спасибо!</a:t>
            </a:r>
            <a:endParaRPr lang="en-US" sz="3800" dirty="0"/>
          </a:p>
        </p:txBody>
      </p:sp>
      <p:sp>
        <p:nvSpPr>
          <p:cNvPr id="8" name="Shape 5"/>
          <p:cNvSpPr/>
          <p:nvPr/>
        </p:nvSpPr>
        <p:spPr>
          <a:xfrm>
            <a:off x="8183880" y="1188720"/>
            <a:ext cx="3017520" cy="3017520"/>
          </a:xfrm>
          <a:prstGeom prst="ellipse">
            <a:avLst/>
          </a:prstGeom>
          <a:solidFill>
            <a:srgbClr val="0E6B65"/>
          </a:solidFill>
          <a:ln w="12700">
            <a:solidFill>
              <a:srgbClr val="0E6B6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21040" y="1325880"/>
            <a:ext cx="2743200" cy="2743200"/>
          </a:xfrm>
          <a:prstGeom prst="ellipse">
            <a:avLst/>
          </a:prstGeom>
          <a:solidFill>
            <a:srgbClr val="F0B47C"/>
          </a:solidFill>
          <a:ln w="12700">
            <a:solidFill>
              <a:srgbClr val="F0B47C"/>
            </a:solidFill>
            <a:prstDash val="solid"/>
          </a:ln>
        </p:spPr>
      </p:sp>
      <p:pic>
        <p:nvPicPr>
          <p:cNvPr id="10" name="Image 1" descr="img/c_team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417320"/>
            <a:ext cx="2560320" cy="2560320"/>
          </a:xfrm>
          <a:prstGeom prst="ellipse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680960" y="443484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Петрова Полина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7680960" y="486460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CC7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Руководитель Центра «Содействие»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Центр «Содействие» — Петрова Полина</dc:title>
  <dc:subject>PptxGenJS Presentation</dc:subject>
  <dc:creator>PptxGenJS</dc:creator>
  <cp:lastModifiedBy>PptxGenJS</cp:lastModifiedBy>
  <cp:revision>1</cp:revision>
  <dcterms:created xsi:type="dcterms:W3CDTF">2026-09-29T10:14:59Z</dcterms:created>
  <dcterms:modified xsi:type="dcterms:W3CDTF">2026-09-29T10:14:59Z</dcterms:modified>
</cp:coreProperties>
</file>