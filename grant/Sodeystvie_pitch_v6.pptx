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Конкурс «Лучший молодой предприниматель России»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Петрова Полина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Александровна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Центра «Содействие» · Республика Татарстан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Экосистема достойного ухода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Возвращаем человеку самостоятельность,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семье — возможность быть семьёй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лет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уходе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4846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региона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района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4846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ежедневно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411480"/>
            <a:ext cx="4206240" cy="57607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0" descr="img/c_polin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548640"/>
            <a:ext cx="3931920" cy="54864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6355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Росмолодёжь | предпринимай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705" y="0"/>
            <a:ext cx="608990" cy="6858000"/>
          </a:xfrm>
          <a:prstGeom prst="rect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582705" y="164592"/>
            <a:ext cx="608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Росмолодёжь | предпринимай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бизнесе участника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875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 «Содействие»: 11 лет развития — от одного центра до экосистемы ухода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6675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764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Хронология развития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51560" y="2587752"/>
            <a:ext cx="5120640" cy="0"/>
          </a:xfrm>
          <a:prstGeom prst="line">
            <a:avLst/>
          </a:prstGeom>
          <a:noFill/>
          <a:ln w="25400">
            <a:solidFill>
              <a:srgbClr val="F4A9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496312"/>
            <a:ext cx="182880" cy="182880"/>
          </a:xfrm>
          <a:prstGeom prst="ellipse">
            <a:avLst/>
          </a:prstGeom>
          <a:solidFill>
            <a:srgbClr val="EF3B2D"/>
          </a:solidFill>
          <a:ln w="25400">
            <a:solidFill>
              <a:srgbClr val="EF3B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во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Владимире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40280" y="2496312"/>
            <a:ext cx="182880" cy="182880"/>
          </a:xfrm>
          <a:prstGeom prst="ellipse">
            <a:avLst/>
          </a:prstGeom>
          <a:solidFill>
            <a:srgbClr val="EF3B2D"/>
          </a:solidFill>
          <a:ln w="25400">
            <a:solidFill>
              <a:srgbClr val="EF3B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83080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Татарстане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20440" y="2496312"/>
            <a:ext cx="182880" cy="182880"/>
          </a:xfrm>
          <a:prstGeom prst="ellipse">
            <a:avLst/>
          </a:prstGeom>
          <a:solidFill>
            <a:srgbClr val="EF3B2D"/>
          </a:solidFill>
          <a:ln w="25400">
            <a:solidFill>
              <a:srgbClr val="EF3B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63240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Пансионат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«Милосердие»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496312"/>
            <a:ext cx="182880" cy="182880"/>
          </a:xfrm>
          <a:prstGeom prst="ellipse">
            <a:avLst/>
          </a:prstGeom>
          <a:solidFill>
            <a:srgbClr val="EF3B2D"/>
          </a:solidFill>
          <a:ln w="25400">
            <a:solidFill>
              <a:srgbClr val="EF3B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43400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Пансионат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«Ярдэм»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496312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3B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23560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Sidelka Online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Миссия и ценности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5262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пожилой человек должен получать бытовую помощь, сохранять достоинство, автономность и независимость — независимо от наличия родственников.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977640" y="379476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51960" y="3977640"/>
            <a:ext cx="411480" cy="411480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519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Кратко о бизнесе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4251960" y="45262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Уход по принципу «одного окна»: помощь на дому, стационар, обучение сиделок и родственников, аренда ТСР, эрготерапия и цифровая платформа Sidelka Online.</a:t>
            </a:r>
            <a:endParaRPr lang="en-US" sz="1300" dirty="0"/>
          </a:p>
        </p:txBody>
      </p:sp>
      <p:pic>
        <p:nvPicPr>
          <p:cNvPr id="38" name="Image 0" descr="img/c_elder_t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554480"/>
            <a:ext cx="370332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705" y="0"/>
            <a:ext cx="608990" cy="6858000"/>
          </a:xfrm>
          <a:prstGeom prst="rect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582705" y="164592"/>
            <a:ext cx="608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Росмолодёжь | предпринимай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Уникальность и актуальность бизнеса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8132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4813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Уникальность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2084832"/>
            <a:ext cx="128016" cy="128016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0116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«Одно окно» для семьи: сиделка, ТСР, стационар, обучение и эрготерапия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" y="2743200"/>
            <a:ext cx="128016" cy="128016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67004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Гибридная модель B2G + B2C + гранты: устойчивость и доступность помощи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128016" cy="128016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332841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1 500+ обученных помощников и собственная система подготовки кадров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" y="4059936"/>
            <a:ext cx="128016" cy="128016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98678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Sidelka Online — цифровое усиление уже работающей системы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89320" y="128016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48132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4813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81928" y="2084832"/>
            <a:ext cx="128016" cy="128016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20116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Семья часто остаётся один на один с тяжёлым уходом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81928" y="2743200"/>
            <a:ext cx="128016" cy="128016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267004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Госучреждения перегружены, рынок частных сиделок непрозрачен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81928" y="3401568"/>
            <a:ext cx="128016" cy="128016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332841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Дефицит ухода, кадров и доверия на рынке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493776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недели  →  1–2 дня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493776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столько теперь занимает организация помощи семье — вместо трёх недель ожидания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705" y="0"/>
            <a:ext cx="608990" cy="6858000"/>
          </a:xfrm>
          <a:prstGeom prst="rect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582705" y="164592"/>
            <a:ext cx="608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Росмолодёжь | предпринимай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показатели 2025–2026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875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результаты и измеримый социальный эффект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1645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получают помощь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дому ежедневно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74720" y="1645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514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находятся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стационарном уходе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72200" y="1645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1 500+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514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помощников по уходу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прошли обучение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41080" y="15087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869680" y="1645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2514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родственников сохранили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работу и занятость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3657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млн+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1330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социальных услуг на дому в год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35661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474720" y="3657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41330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волонтёров в проектах и акциях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35661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172200" y="3657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41330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организаторов ухода в системе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41080" y="356616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869680" y="3657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23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41330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региона · муниципальных района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93776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22960" y="5029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Финансы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376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вписать ]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5760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2025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429000" y="5376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вписать ]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3429000" y="5760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к 2024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035040" y="5376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вписать ]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6035040" y="5760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Структура: B2G / B2C / гранты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641080" y="5376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вписать ]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8641080" y="5760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Сотрудников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705" y="0"/>
            <a:ext cx="608990" cy="6858000"/>
          </a:xfrm>
          <a:prstGeom prst="rect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582705" y="164592"/>
            <a:ext cx="608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Росмолодёжь | предпринимай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Социальная значимость бизнеса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1663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4813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Социальный эффект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411480" cy="411480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039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Самостоятельность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377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Возвращаем пожилому человеку право на автономность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063240"/>
            <a:ext cx="411480" cy="411480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0449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Занятость семей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383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родственников сохранили работу и не выпали из жизни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069080"/>
            <a:ext cx="411480" cy="411480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050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Разгрузка служб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Снижаем нагрузку на социальные и медицинские учреждения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074920"/>
            <a:ext cx="411480" cy="411480"/>
          </a:xfrm>
          <a:prstGeom prst="ellipse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056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Профилактика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394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Предупреждаем последствия травм и осложнения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89320" y="1280160"/>
            <a:ext cx="5166360" cy="4892040"/>
          </a:xfrm>
          <a:prstGeom prst="roundRect">
            <a:avLst>
              <a:gd name="adj" fmla="val 1495"/>
            </a:avLst>
          </a:prstGeom>
          <a:solidFill>
            <a:srgbClr val="FDECEA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1481328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14813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Благотворительность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Фонда президентских грантов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242316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Деменция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03920" y="242316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0392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Бесплатная перевозка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3246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</a:t>
            </a:r>
            <a:endParaRPr lang="en-US" sz="44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волонтёров готовят и проводят праздники и акции для подопечных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263640" y="4251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пожилого человека · 8 Марта · 23 Февраля · Неделя инвалидов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263640" y="5029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Формируем сообщество заботы вокруг подопечных и их семей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705" y="0"/>
            <a:ext cx="608990" cy="6858000"/>
          </a:xfrm>
          <a:prstGeom prst="rect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582705" y="164592"/>
            <a:ext cx="608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Росмолодёжь | предпринимай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команде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875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участники команды Центра «Содействие»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0" descr="img/c_team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1051560" cy="105156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011680" y="1755648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11680" y="1755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Директор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011680" y="21214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Петрова Полина Александровна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926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Стратегия, развитие и масштабирование экосистемы; инициатор Sidelka Online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42232" y="14630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1" descr="img/c_team1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737360"/>
            <a:ext cx="1051560" cy="1051560"/>
          </a:xfrm>
          <a:prstGeom prst="ellipse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05272" y="1755648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605272" y="1755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бухгалтер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605272" y="21214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Алёна Минькина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370832" y="2926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Финансовое управление, отчётность, устойчивость модели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735824" y="14630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2" descr="img/c_team1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4" y="1737360"/>
            <a:ext cx="1051560" cy="1051560"/>
          </a:xfrm>
          <a:prstGeom prst="ellipse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198864" y="1755648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198864" y="1755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Заместитель директора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9198864" y="21214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Эндже Латыпова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7964424" y="2926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Текущие бизнес-процессы и координация подразделений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3776472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7" name="Image 3" descr="img/c_team2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50792"/>
            <a:ext cx="1051560" cy="1051560"/>
          </a:xfrm>
          <a:prstGeom prst="ellipse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2011680" y="406908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201168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Заместитель директора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2011680" y="4434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Айгуль Хасамутдинова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77240" y="52395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Пансионаты: качество стационарного ухода и стандарты персонала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142232" y="3776472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33" name="Image 4" descr="img/c_team2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4050792"/>
            <a:ext cx="1051560" cy="1051560"/>
          </a:xfrm>
          <a:prstGeom prst="ellipse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5605272" y="406908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5605272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IT-продукты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5605272" y="4434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Айрат Сагдеев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4370832" y="52395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и тестирование платформы Sidelka Online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7735824" y="3776472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39" name="Image 5" descr="img/c_team3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4050792"/>
            <a:ext cx="1051560" cy="1051560"/>
          </a:xfrm>
          <a:prstGeom prst="ellipse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9198864" y="406908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9198864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Психолог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9198864" y="4434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Роза Закирова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7964424" y="52395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Сопровождение подопечных и поддержка родственников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5486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1 000+ </a:t>
            </a:r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специалистов и сотрудников системы ухода в 3 регионах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82705" y="0"/>
            <a:ext cx="608990" cy="6858000"/>
          </a:xfrm>
          <a:prstGeom prst="rect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582705" y="164592"/>
            <a:ext cx="608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Росмолодёжь | предпринимай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этап роста: Sidelka Online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875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платформа для специалистов по уходу и семей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813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813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Статус: тестирование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DECEA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0299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594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сиделки в первом пилоте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19659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DECEA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66160" y="20299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487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родственников в первом пилоте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Сиделкам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5661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Стабильный поток клиентов, доход, обучение, подсказки и профессиональное сообщество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70832"/>
            <a:ext cx="539496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434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Семьям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44348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подбор, геолокация, мониторинг, контроль качества и прозрачность ухода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39512"/>
            <a:ext cx="539496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303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53035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Комиссия платформы, подписка семьи, платные консультации, партнёрства с медорганизациями</a:t>
            </a:r>
            <a:endParaRPr lang="en-US" sz="1300" dirty="0"/>
          </a:p>
        </p:txBody>
      </p:sp>
      <p:pic>
        <p:nvPicPr>
          <p:cNvPr id="24" name="Image 0" descr="img/c_tabl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81328"/>
            <a:ext cx="461772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rgbClr val="EF3B2D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582705" y="164592"/>
            <a:ext cx="608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Миссия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Достойная старость —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привилегия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мечта — чтобы каждый пожилой человек получал бытовую помощь независимо от наличия родственников и оставался максимально независимым и автономным.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6309360" cy="1188720"/>
          </a:xfrm>
          <a:prstGeom prst="roundRect">
            <a:avLst>
              <a:gd name="adj" fmla="val 6154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 «Содействие» уже сегодня строит инфраструктуру достойного ухода — для семьи, для специалиста и для пожилого человека.</a:t>
            </a:r>
            <a:endParaRPr lang="en-US" sz="1600" dirty="0"/>
          </a:p>
        </p:txBody>
      </p:sp>
      <p:pic>
        <p:nvPicPr>
          <p:cNvPr id="9" name="Image 0" descr="img/c_team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188720"/>
            <a:ext cx="2011680" cy="2011680"/>
          </a:xfrm>
          <a:prstGeom prst="ellipse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89520" y="3429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Петрова Полина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Центра «Содействие»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572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премия «Молодой предприниматель России»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6419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Росмолодёжь | предпринимай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Содействие — Петрова Полина</dc:title>
  <dc:subject>PptxGenJS Presentation</dc:subject>
  <dc:creator>PptxGenJS</dc:creator>
  <cp:lastModifiedBy>PptxGenJS</cp:lastModifiedBy>
  <cp:revision>1</cp:revision>
  <dcterms:created xsi:type="dcterms:W3CDTF">2026-09-29T08:28:47Z</dcterms:created>
  <dcterms:modified xsi:type="dcterms:W3CDTF">2026-09-29T08:28:47Z</dcterms:modified>
</cp:coreProperties>
</file>