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Подопечные</c:v>
                </c:pt>
              </c:strCache>
            </c:strRef>
          </c:tx>
          <c:spPr>
            <a:solidFill>
              <a:srgbClr val="0E6B6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434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6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6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2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2019 (пилот)</c:v>
                  </c:pt>
                  <c:pt idx="1">
                    <c:v>2020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</c:v>
                </c:pt>
                <c:pt idx="1">
                  <c:v>544</c:v>
                </c:pt>
                <c:pt idx="2">
                  <c:v>955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434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70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oli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5029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 «Содействие»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Экосистема достойного ухода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 человеку самостоятельность,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семье — возможность быть семьёй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лет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70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сфере ухода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региона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370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района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4370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подопечных ежедневно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6309360" cy="0"/>
          </a:xfrm>
          <a:prstGeom prst="line">
            <a:avLst/>
          </a:prstGeom>
          <a:noFill/>
          <a:ln w="12700">
            <a:solidFill>
              <a:srgbClr val="2E6F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257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 Александровна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87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Центра «Содействие» · Республика Татарстан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бизнесе участника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лет: от личной боли к системе ухода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938528"/>
            <a:ext cx="9720072" cy="0"/>
          </a:xfrm>
          <a:prstGeom prst="line">
            <a:avLst/>
          </a:prstGeom>
          <a:noFill/>
          <a:ln w="38100">
            <a:solidFill>
              <a:srgbClr val="DDEE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1819656"/>
            <a:ext cx="237744" cy="237744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центр,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Владимир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04150" y="1819656"/>
            <a:ext cx="237744" cy="237744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37222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09790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Татарстан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92731" y="1819656"/>
            <a:ext cx="237744" cy="237744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25803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8371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«Милосердие»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81313" y="1819656"/>
            <a:ext cx="237744" cy="237744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4385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86953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СДУ: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 человек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69895" y="1819656"/>
            <a:ext cx="237744" cy="237744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2967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075535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подопечных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58477" y="1819656"/>
            <a:ext cx="237744" cy="237744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1549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64117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СДУ во Владимирской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Пензенской обл.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47058" y="1819656"/>
            <a:ext cx="237744" cy="237744"/>
          </a:xfrm>
          <a:prstGeom prst="ellipse">
            <a:avLst/>
          </a:prstGeom>
          <a:solidFill>
            <a:srgbClr val="0E6B6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80130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52698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«Ярдэм»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835640" y="1819656"/>
            <a:ext cx="237744" cy="237744"/>
          </a:xfrm>
          <a:prstGeom prst="ellipse">
            <a:avLst/>
          </a:prstGeom>
          <a:solidFill>
            <a:srgbClr val="D982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68712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24688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Sidelka Online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064C49"/>
          </a:solidFill>
          <a:ln w="12700">
            <a:solidFill>
              <a:srgbClr val="064C4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Миссия и ценности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3886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Достойная старость — не привилегия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пожилой человек получает бытовую помощь и остаётся максимально самостоятельным — независимо от того, есть ли рядом родственники.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806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Достоинство · Автономность · Доверие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51960" y="3383280"/>
            <a:ext cx="4572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52628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 о бизнесе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3931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Отрасль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0" y="3931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Социальные услуги: уход за пожилыми и тяжелобольными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26280" y="44988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0" y="44988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Люди, потерявшие самостоятельность, их семьи, государство (соцзаказ)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526280" y="506577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0" y="506577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Уход на дому, пансионаты, обучение, прокат ТСР, эрготерапия, Sidelka Online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526280" y="563270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0" y="56327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Проверенная помощь за 1–2 дня по принципу «одного окна»</a:t>
            </a:r>
            <a:endParaRPr lang="en-US" sz="1200" dirty="0"/>
          </a:p>
        </p:txBody>
      </p:sp>
      <p:pic>
        <p:nvPicPr>
          <p:cNvPr id="47" name="Image 0" descr="img/el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3383280"/>
            <a:ext cx="263347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 и актуальность бизнеса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за 1–2 дня вместо 3 недель ожидания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выбирают нас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0" y="1847088"/>
            <a:ext cx="2194560" cy="2999232"/>
          </a:xfrm>
          <a:prstGeom prst="roundRect">
            <a:avLst>
              <a:gd name="adj" fmla="val 3333"/>
            </a:avLst>
          </a:prstGeom>
          <a:solidFill>
            <a:srgbClr val="EAF7F5"/>
          </a:solidFill>
          <a:ln w="15875">
            <a:solidFill>
              <a:srgbClr val="0E6B6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Госучреждение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Частная сиделка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Содействие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68122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423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начала помощи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3 недель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423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своими силами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24231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дня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68122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2004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Квалификация персонала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200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2004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 проверить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330952" y="320040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1 500+ обученных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68122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9776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маршрут ухода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977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отдельные услуги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39776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сиделка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30952" y="397764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дом, пансионат, ТСР, обучение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1463040"/>
            <a:ext cx="4005072" cy="3383280"/>
          </a:xfrm>
          <a:prstGeom prst="roundRect">
            <a:avLst>
              <a:gd name="adj" fmla="val 2703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909560" y="164592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нужно сейчас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09560" y="2103120"/>
            <a:ext cx="384048" cy="384048"/>
          </a:xfrm>
          <a:prstGeom prst="ellipse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095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2084832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Население стареет — растёт число людей, которым нужен постоянный уход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09560" y="2971800"/>
            <a:ext cx="384048" cy="384048"/>
          </a:xfrm>
          <a:prstGeom prst="ellipse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095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58200" y="2953512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 остаётся один на один с уходом и выпадает из работы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09560" y="3840480"/>
            <a:ext cx="384048" cy="384048"/>
          </a:xfrm>
          <a:prstGeom prst="ellipse">
            <a:avLst/>
          </a:prstGeom>
          <a:solidFill>
            <a:srgbClr val="0E6B65"/>
          </a:solidFill>
          <a:ln w="12700">
            <a:solidFill>
              <a:srgbClr val="0E6B6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095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3822192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Госучреждения перегружены, рынок частных сиделок непрозрачен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064C49"/>
          </a:solidFill>
          <a:ln w="12700">
            <a:solidFill>
              <a:srgbClr val="064C49"/>
            </a:solidFill>
            <a:prstDash val="solid"/>
          </a:ln>
        </p:spPr>
      </p:sp>
      <p:pic>
        <p:nvPicPr>
          <p:cNvPr id="39" name="Image 0" descr="img/tab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184648"/>
            <a:ext cx="969264" cy="969264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874520" y="5230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Инновация: Sidelka Online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874520" y="5577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платформа: быстрый подбор проверенной сиделки, GPS-контроль визитов, ИИ-подсказки по уходу, обучение и рейтинг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360920" y="5166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594</a:t>
            </a:r>
            <a:endParaRPr lang="en-US" sz="3400" dirty="0"/>
          </a:p>
        </p:txBody>
      </p:sp>
      <p:sp>
        <p:nvSpPr>
          <p:cNvPr id="43" name="Text 40"/>
          <p:cNvSpPr txBox="1"/>
          <p:nvPr/>
        </p:nvSpPr>
        <p:spPr>
          <a:xfrm>
            <a:off x="7360920" y="5760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сиделки в пилоте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9418320" y="5166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</a:t>
            </a:r>
            <a:endParaRPr lang="en-US" sz="3400" dirty="0"/>
          </a:p>
        </p:txBody>
      </p:sp>
      <p:sp>
        <p:nvSpPr>
          <p:cNvPr id="45" name="Text 42"/>
          <p:cNvSpPr txBox="1"/>
          <p:nvPr/>
        </p:nvSpPr>
        <p:spPr>
          <a:xfrm>
            <a:off x="9418320" y="5760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родственников в пилоте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показатели за 2025–2026 гг.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 подопечных ежедневно и помощь за 1–2 дня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Подопечные на обслуживании, чел.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920240"/>
          <a:ext cx="36576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463040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46320" y="1627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2677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получают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на дому ежедневно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0" y="1463040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949440" y="1627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2677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стационарном уходе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127248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846320" y="3291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млн+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931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социальных услуг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дому в год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66560" y="3127248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949440" y="3291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1 500+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931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помощников по уходу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прошли обучение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961120" y="1463040"/>
            <a:ext cx="2679192" cy="3246120"/>
          </a:xfrm>
          <a:prstGeom prst="roundRect">
            <a:avLst>
              <a:gd name="adj" fmla="val 3413"/>
            </a:avLst>
          </a:prstGeom>
          <a:solidFill>
            <a:srgbClr val="064C49"/>
          </a:solidFill>
          <a:ln w="9525">
            <a:solidFill>
              <a:srgbClr val="064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189720" y="162763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Качественные результаты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0116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нед. → 1–2 дня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22860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организации помощи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189720" y="267004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проекта ФПГ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189720" y="294436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Деменция и «Перевозка»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332841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родственников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360273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сохранили работу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189720" y="398678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платформы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426110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Sidelka Online запущен в тест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77724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показатели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5349240"/>
            <a:ext cx="1989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" y="5779008"/>
            <a:ext cx="1989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2025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904134" y="5349240"/>
            <a:ext cx="1989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2904134" y="5779008"/>
            <a:ext cx="1989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2026 (прогноз)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31029" y="5349240"/>
            <a:ext cx="1989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5031029" y="5779008"/>
            <a:ext cx="1989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157923" y="5349240"/>
            <a:ext cx="1989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7157923" y="5779008"/>
            <a:ext cx="1989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 B2C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284818" y="5349240"/>
            <a:ext cx="19897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9284818" y="5779008"/>
            <a:ext cx="1989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Структура: B2G / B2C / гранты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Социальная значимость бизнеса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Помогаем человеку, семье и региону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рабочих мест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877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и специалисты по уходу в 3 регионах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94760" y="1508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02336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родственников работают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877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 не пришлось уходить с работы, чтобы ухаживать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муниципальных района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4622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рядом с домом в 3 регионах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94760" y="338328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02336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ежедневно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4622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сохраняют самостоятельность и достоинство дома и в пансионате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03520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Снижаем нагрузку на социальные и медицинские службы и предупреждаем осложнения у подопечных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23760" y="1508760"/>
            <a:ext cx="4416552" cy="4754880"/>
          </a:xfrm>
          <a:prstGeom prst="roundRect">
            <a:avLst>
              <a:gd name="adj" fmla="val 2070"/>
            </a:avLst>
          </a:prstGeom>
          <a:solidFill>
            <a:srgbClr val="064C49"/>
          </a:solidFill>
          <a:ln w="12700">
            <a:solidFill>
              <a:srgbClr val="064C4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169164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Благотворительные инициативы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1031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Фонда президентских грантов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2423160"/>
            <a:ext cx="1865376" cy="548640"/>
          </a:xfrm>
          <a:prstGeom prst="roundRect">
            <a:avLst>
              <a:gd name="adj" fmla="val 13333"/>
            </a:avLst>
          </a:prstGeom>
          <a:solidFill>
            <a:srgbClr val="0E6B65"/>
          </a:solidFill>
          <a:ln w="12700">
            <a:solidFill>
              <a:srgbClr val="F0B47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2423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Деменция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00616" y="2423160"/>
            <a:ext cx="1865376" cy="548640"/>
          </a:xfrm>
          <a:prstGeom prst="roundRect">
            <a:avLst>
              <a:gd name="adj" fmla="val 13333"/>
            </a:avLst>
          </a:prstGeom>
          <a:solidFill>
            <a:srgbClr val="0E6B65"/>
          </a:solidFill>
          <a:ln w="12700">
            <a:solidFill>
              <a:srgbClr val="F0B47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00616" y="2423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Бесплатная перевозка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329184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волонтёров готовят и проводят праздники и акции для подопечных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42519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год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4544568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пожилого человека · 23 Февраля · 8 Марта · Неделя инвалидов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525780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Вокруг подопечных складывается сообщество заботы — семьи, волонтёры, специалисты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команде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Команда, которая построила систему ухода в 3 регионах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844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img/c_team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19072"/>
            <a:ext cx="1097280" cy="109728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039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 Александровна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4436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Стратегия, развитие и масштабирование экосистемы; инициатор Sidelka Online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5844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2" name="Image 1" descr="img/c_team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19072"/>
            <a:ext cx="1097280" cy="1097280"/>
          </a:xfrm>
          <a:prstGeom prst="ellipse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0644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бухгалтер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2039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Алёна Минькина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94436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Финансовое управление, отчётность, устойчивость бизнес-модели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463040"/>
            <a:ext cx="35844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7" name="Image 2" descr="img/c_team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719072"/>
            <a:ext cx="1097280" cy="1097280"/>
          </a:xfrm>
          <a:prstGeom prst="ellipse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55548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Заместитель директора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9555480" y="2039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Эндже Латыпова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94436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Текущие бизнес-процессы, координация подразделений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776472"/>
            <a:ext cx="35844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22" name="Image 3" descr="img/c_team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32504"/>
            <a:ext cx="1097280" cy="1097280"/>
          </a:xfrm>
          <a:prstGeom prst="ellipse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057400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Заместитель директора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2057400" y="435254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Айгуль Хасамутдинова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525780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Пансионаты: качество стационарного ухода и стандарты персонала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3776472"/>
            <a:ext cx="35844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27" name="Image 4" descr="img/c_team2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032504"/>
            <a:ext cx="1097280" cy="1097280"/>
          </a:xfrm>
          <a:prstGeom prst="ellipse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806440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IT-продукты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806440" y="435254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Айрат Сагдеев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525780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и тестирование цифровой платформы Sidelka Online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46720" y="3776472"/>
            <a:ext cx="35844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32" name="Image 5" descr="img/c_team3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032504"/>
            <a:ext cx="1097280" cy="1097280"/>
          </a:xfrm>
          <a:prstGeom prst="ellipse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555480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9555480" y="435254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4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Роза Закирова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525780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Психологическое сопровождение подопечных и поддержка родственников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01675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1 000+ </a:t>
            </a:r>
            <a:pPr indent="0" marL="0">
              <a:buNone/>
            </a:pPr>
            <a:r>
              <a:rPr lang="en-US" sz="1400" dirty="0">
                <a:solidFill>
                  <a:srgbClr val="243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специалистов и сотрудников системы ухода в 3 регионах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Достойная старость —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привилегия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— сделать качественный уход доступным в каждом городе. Sidelka Online поможет масштабировать то, что уже работает в трёх регионах.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37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B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183880" y="1325880"/>
            <a:ext cx="2926080" cy="2926080"/>
          </a:xfrm>
          <a:prstGeom prst="ellipse">
            <a:avLst/>
          </a:prstGeom>
          <a:solidFill>
            <a:srgbClr val="F0B47C"/>
          </a:solidFill>
          <a:ln w="12700">
            <a:solidFill>
              <a:srgbClr val="F0B47C"/>
            </a:solidFill>
            <a:prstDash val="solid"/>
          </a:ln>
        </p:spPr>
      </p:sp>
      <p:pic>
        <p:nvPicPr>
          <p:cNvPr id="9" name="Image 0" descr="img/c_team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417320"/>
            <a:ext cx="2743200" cy="2743200"/>
          </a:xfrm>
          <a:prstGeom prst="ellipse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35240" y="4526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4956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Центра «Содействие»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Центр «Содействие» — Петрова Полина</dc:title>
  <dc:subject>PptxGenJS Presentation</dc:subject>
  <dc:creator>PptxGenJS</dc:creator>
  <cp:lastModifiedBy>PptxGenJS</cp:lastModifiedBy>
  <cp:revision>1</cp:revision>
  <dcterms:created xsi:type="dcterms:W3CDTF">2026-09-29T09:59:15Z</dcterms:created>
  <dcterms:modified xsi:type="dcterms:W3CDTF">2026-09-29T09:59:15Z</dcterms:modified>
</cp:coreProperties>
</file>